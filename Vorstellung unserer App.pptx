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1" r:id="rId2"/>
    <p:sldId id="2562" r:id="rId3"/>
    <p:sldId id="2564" r:id="rId4"/>
    <p:sldId id="2565" r:id="rId5"/>
    <p:sldId id="2577" r:id="rId6"/>
    <p:sldId id="2566" r:id="rId7"/>
    <p:sldId id="2567" r:id="rId8"/>
    <p:sldId id="2573" r:id="rId9"/>
    <p:sldId id="2574" r:id="rId10"/>
    <p:sldId id="2579" r:id="rId11"/>
    <p:sldId id="2580" r:id="rId12"/>
    <p:sldId id="2581"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orstellung unserer App" id="{A48F0EC0-A5BF-4E66-BFAC-434C281D0990}">
          <p14:sldIdLst>
            <p14:sldId id="2561"/>
            <p14:sldId id="2562"/>
          </p14:sldIdLst>
        </p14:section>
        <p14:section name="Unsere Aufgabenstellung" id="{1BE3F7B7-A536-48F8-A717-35F0FDFC91B0}">
          <p14:sldIdLst>
            <p14:sldId id="2564"/>
            <p14:sldId id="2565"/>
            <p14:sldId id="2577"/>
          </p14:sldIdLst>
        </p14:section>
        <p14:section name="Herausforderungen und deren Lösungen" id="{D4E0C7C0-F632-414B-A654-EA8AB3C08B33}">
          <p14:sldIdLst>
            <p14:sldId id="2566"/>
            <p14:sldId id="2567"/>
          </p14:sldIdLst>
        </p14:section>
        <p14:section name="Verwendete Plugins" id="{352E7B1C-0ABF-41A5-9992-4B9D95585FF0}">
          <p14:sldIdLst>
            <p14:sldId id="2573"/>
            <p14:sldId id="2574"/>
            <p14:sldId id="2579"/>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533942-7078-42B2-9190-E95B7123CED8}" v="433" dt="2025-08-18T10:24:02.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384" y="34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 Kaltenbach" userId="67b3917844f514e8" providerId="LiveId" clId="{FB533942-7078-42B2-9190-E95B7123CED8}"/>
    <pc:docChg chg="undo custSel addSld delSld modSld sldOrd delSection modSection">
      <pc:chgData name="Nico Kaltenbach" userId="67b3917844f514e8" providerId="LiveId" clId="{FB533942-7078-42B2-9190-E95B7123CED8}" dt="2025-08-18T10:24:02.464" v="852"/>
      <pc:docMkLst>
        <pc:docMk/>
      </pc:docMkLst>
      <pc:sldChg chg="modSp">
        <pc:chgData name="Nico Kaltenbach" userId="67b3917844f514e8" providerId="LiveId" clId="{FB533942-7078-42B2-9190-E95B7123CED8}" dt="2025-08-18T10:14:48.689" v="728" actId="20577"/>
        <pc:sldMkLst>
          <pc:docMk/>
          <pc:sldMk cId="2573194063" sldId="2562"/>
        </pc:sldMkLst>
        <pc:spChg chg="mod">
          <ac:chgData name="Nico Kaltenbach" userId="67b3917844f514e8" providerId="LiveId" clId="{FB533942-7078-42B2-9190-E95B7123CED8}" dt="2025-08-18T10:14:48.689" v="728" actId="20577"/>
          <ac:spMkLst>
            <pc:docMk/>
            <pc:sldMk cId="2573194063" sldId="2562"/>
            <ac:spMk id="4" creationId="{33D566F7-EF0E-FAF0-7D1D-BF59FF710404}"/>
          </ac:spMkLst>
        </pc:spChg>
      </pc:sldChg>
      <pc:sldChg chg="modSp mod modAnim">
        <pc:chgData name="Nico Kaltenbach" userId="67b3917844f514e8" providerId="LiveId" clId="{FB533942-7078-42B2-9190-E95B7123CED8}" dt="2025-08-18T10:22:17.782" v="769"/>
        <pc:sldMkLst>
          <pc:docMk/>
          <pc:sldMk cId="3414748535" sldId="2566"/>
        </pc:sldMkLst>
        <pc:spChg chg="mod">
          <ac:chgData name="Nico Kaltenbach" userId="67b3917844f514e8" providerId="LiveId" clId="{FB533942-7078-42B2-9190-E95B7123CED8}" dt="2025-08-18T10:08:24.886" v="539" actId="1076"/>
          <ac:spMkLst>
            <pc:docMk/>
            <pc:sldMk cId="3414748535" sldId="2566"/>
            <ac:spMk id="2" creationId="{745898FB-935E-AB05-A329-74852BE9021A}"/>
          </ac:spMkLst>
        </pc:spChg>
      </pc:sldChg>
      <pc:sldChg chg="addSp modSp mod modAnim">
        <pc:chgData name="Nico Kaltenbach" userId="67b3917844f514e8" providerId="LiveId" clId="{FB533942-7078-42B2-9190-E95B7123CED8}" dt="2025-08-18T10:21:30.122" v="767"/>
        <pc:sldMkLst>
          <pc:docMk/>
          <pc:sldMk cId="1460735679" sldId="2567"/>
        </pc:sldMkLst>
        <pc:spChg chg="mod">
          <ac:chgData name="Nico Kaltenbach" userId="67b3917844f514e8" providerId="LiveId" clId="{FB533942-7078-42B2-9190-E95B7123CED8}" dt="2025-08-18T10:07:22.815" v="509" actId="1076"/>
          <ac:spMkLst>
            <pc:docMk/>
            <pc:sldMk cId="1460735679" sldId="2567"/>
            <ac:spMk id="2" creationId="{A1B494C8-993D-EFD7-A8A8-EE4F5D0CD61F}"/>
          </ac:spMkLst>
        </pc:spChg>
        <pc:spChg chg="mod">
          <ac:chgData name="Nico Kaltenbach" userId="67b3917844f514e8" providerId="LiveId" clId="{FB533942-7078-42B2-9190-E95B7123CED8}" dt="2025-08-18T10:11:23.490" v="652" actId="20577"/>
          <ac:spMkLst>
            <pc:docMk/>
            <pc:sldMk cId="1460735679" sldId="2567"/>
            <ac:spMk id="4" creationId="{D84897E4-28BB-19B7-680F-0E4A85BB0B9E}"/>
          </ac:spMkLst>
        </pc:spChg>
        <pc:picChg chg="add mod">
          <ac:chgData name="Nico Kaltenbach" userId="67b3917844f514e8" providerId="LiveId" clId="{FB533942-7078-42B2-9190-E95B7123CED8}" dt="2025-08-18T10:11:04.920" v="633" actId="1076"/>
          <ac:picMkLst>
            <pc:docMk/>
            <pc:sldMk cId="1460735679" sldId="2567"/>
            <ac:picMk id="3" creationId="{93894CB0-4344-E6AC-1401-D1FDCD9BC9FC}"/>
          </ac:picMkLst>
        </pc:picChg>
        <pc:picChg chg="mod">
          <ac:chgData name="Nico Kaltenbach" userId="67b3917844f514e8" providerId="LiveId" clId="{FB533942-7078-42B2-9190-E95B7123CED8}" dt="2025-08-18T10:07:17.592" v="508" actId="14100"/>
          <ac:picMkLst>
            <pc:docMk/>
            <pc:sldMk cId="1460735679" sldId="2567"/>
            <ac:picMk id="5" creationId="{1A8374EF-6E94-4235-BD29-F4FC162FDAC4}"/>
          </ac:picMkLst>
        </pc:picChg>
        <pc:picChg chg="add mod">
          <ac:chgData name="Nico Kaltenbach" userId="67b3917844f514e8" providerId="LiveId" clId="{FB533942-7078-42B2-9190-E95B7123CED8}" dt="2025-08-18T10:11:06.315" v="634" actId="1076"/>
          <ac:picMkLst>
            <pc:docMk/>
            <pc:sldMk cId="1460735679" sldId="2567"/>
            <ac:picMk id="6" creationId="{DC6102EA-3002-E6A7-3681-6A37A26C82F2}"/>
          </ac:picMkLst>
        </pc:picChg>
      </pc:sldChg>
      <pc:sldChg chg="modSp del mod">
        <pc:chgData name="Nico Kaltenbach" userId="67b3917844f514e8" providerId="LiveId" clId="{FB533942-7078-42B2-9190-E95B7123CED8}" dt="2025-08-18T10:12:01.033" v="655" actId="2696"/>
        <pc:sldMkLst>
          <pc:docMk/>
          <pc:sldMk cId="1917161085" sldId="2570"/>
        </pc:sldMkLst>
        <pc:spChg chg="mod">
          <ac:chgData name="Nico Kaltenbach" userId="67b3917844f514e8" providerId="LiveId" clId="{FB533942-7078-42B2-9190-E95B7123CED8}" dt="2025-08-18T10:11:43.296" v="653" actId="1076"/>
          <ac:spMkLst>
            <pc:docMk/>
            <pc:sldMk cId="1917161085" sldId="2570"/>
            <ac:spMk id="2" creationId="{6544DC2B-46A3-F6BF-2944-3187DCC03573}"/>
          </ac:spMkLst>
        </pc:spChg>
        <pc:grpChg chg="mod">
          <ac:chgData name="Nico Kaltenbach" userId="67b3917844f514e8" providerId="LiveId" clId="{FB533942-7078-42B2-9190-E95B7123CED8}" dt="2025-08-18T10:11:48.453" v="654" actId="1076"/>
          <ac:grpSpMkLst>
            <pc:docMk/>
            <pc:sldMk cId="1917161085" sldId="2570"/>
            <ac:grpSpMk id="4" creationId="{721470D5-B969-E864-BD4D-158B0B164CFE}"/>
          </ac:grpSpMkLst>
        </pc:grpChg>
      </pc:sldChg>
      <pc:sldChg chg="modAnim">
        <pc:chgData name="Nico Kaltenbach" userId="67b3917844f514e8" providerId="LiveId" clId="{FB533942-7078-42B2-9190-E95B7123CED8}" dt="2025-08-18T10:22:06.895" v="768"/>
        <pc:sldMkLst>
          <pc:docMk/>
          <pc:sldMk cId="312323724" sldId="2573"/>
        </pc:sldMkLst>
      </pc:sldChg>
      <pc:sldChg chg="addSp delSp modSp mod">
        <pc:chgData name="Nico Kaltenbach" userId="67b3917844f514e8" providerId="LiveId" clId="{FB533942-7078-42B2-9190-E95B7123CED8}" dt="2025-08-18T09:46:22.917" v="324" actId="14861"/>
        <pc:sldMkLst>
          <pc:docMk/>
          <pc:sldMk cId="2333125942" sldId="2574"/>
        </pc:sldMkLst>
        <pc:spChg chg="mod">
          <ac:chgData name="Nico Kaltenbach" userId="67b3917844f514e8" providerId="LiveId" clId="{FB533942-7078-42B2-9190-E95B7123CED8}" dt="2025-08-18T09:35:17.570" v="24" actId="14100"/>
          <ac:spMkLst>
            <pc:docMk/>
            <pc:sldMk cId="2333125942" sldId="2574"/>
            <ac:spMk id="2" creationId="{A0B47FF6-3CC4-9412-1AED-9E46AA78893E}"/>
          </ac:spMkLst>
        </pc:spChg>
        <pc:spChg chg="add mod">
          <ac:chgData name="Nico Kaltenbach" userId="67b3917844f514e8" providerId="LiveId" clId="{FB533942-7078-42B2-9190-E95B7123CED8}" dt="2025-08-18T09:44:57.264" v="312" actId="20577"/>
          <ac:spMkLst>
            <pc:docMk/>
            <pc:sldMk cId="2333125942" sldId="2574"/>
            <ac:spMk id="5" creationId="{DD8F11AD-1E0C-20EC-2F81-9D21598E6160}"/>
          </ac:spMkLst>
        </pc:spChg>
        <pc:spChg chg="add mod">
          <ac:chgData name="Nico Kaltenbach" userId="67b3917844f514e8" providerId="LiveId" clId="{FB533942-7078-42B2-9190-E95B7123CED8}" dt="2025-08-18T09:38:51.761" v="128" actId="403"/>
          <ac:spMkLst>
            <pc:docMk/>
            <pc:sldMk cId="2333125942" sldId="2574"/>
            <ac:spMk id="7" creationId="{D1B40AE0-422C-FF0F-C421-781A51AC53B0}"/>
          </ac:spMkLst>
        </pc:spChg>
        <pc:graphicFrameChg chg="del mod">
          <ac:chgData name="Nico Kaltenbach" userId="67b3917844f514e8" providerId="LiveId" clId="{FB533942-7078-42B2-9190-E95B7123CED8}" dt="2025-08-18T09:35:43.555" v="26" actId="478"/>
          <ac:graphicFrameMkLst>
            <pc:docMk/>
            <pc:sldMk cId="2333125942" sldId="2574"/>
            <ac:graphicFrameMk id="4" creationId="{82FE2345-30FA-4E95-BC96-7BC33A9993BD}"/>
          </ac:graphicFrameMkLst>
        </pc:graphicFrameChg>
        <pc:picChg chg="add mod">
          <ac:chgData name="Nico Kaltenbach" userId="67b3917844f514e8" providerId="LiveId" clId="{FB533942-7078-42B2-9190-E95B7123CED8}" dt="2025-08-18T09:46:22.917" v="324" actId="14861"/>
          <ac:picMkLst>
            <pc:docMk/>
            <pc:sldMk cId="2333125942" sldId="2574"/>
            <ac:picMk id="10" creationId="{ABC9E252-CCB2-1FD1-DDAF-8C08E9FDA84B}"/>
          </ac:picMkLst>
        </pc:picChg>
      </pc:sldChg>
      <pc:sldChg chg="delSp mod delAnim">
        <pc:chgData name="Nico Kaltenbach" userId="67b3917844f514e8" providerId="LiveId" clId="{FB533942-7078-42B2-9190-E95B7123CED8}" dt="2025-08-18T10:16:58.962" v="730" actId="478"/>
        <pc:sldMkLst>
          <pc:docMk/>
          <pc:sldMk cId="464891298" sldId="2577"/>
        </pc:sldMkLst>
        <pc:spChg chg="del">
          <ac:chgData name="Nico Kaltenbach" userId="67b3917844f514e8" providerId="LiveId" clId="{FB533942-7078-42B2-9190-E95B7123CED8}" dt="2025-08-18T10:16:58.070" v="729" actId="478"/>
          <ac:spMkLst>
            <pc:docMk/>
            <pc:sldMk cId="464891298" sldId="2577"/>
            <ac:spMk id="8" creationId="{8C64144F-4FCF-AED6-CEAE-437AC296D025}"/>
          </ac:spMkLst>
        </pc:spChg>
        <pc:picChg chg="del">
          <ac:chgData name="Nico Kaltenbach" userId="67b3917844f514e8" providerId="LiveId" clId="{FB533942-7078-42B2-9190-E95B7123CED8}" dt="2025-08-18T10:16:58.962" v="730" actId="478"/>
          <ac:picMkLst>
            <pc:docMk/>
            <pc:sldMk cId="464891298" sldId="2577"/>
            <ac:picMk id="22" creationId="{D68C6398-71F1-1D63-09E1-07D313903F7E}"/>
          </ac:picMkLst>
        </pc:picChg>
      </pc:sldChg>
      <pc:sldChg chg="add del ord">
        <pc:chgData name="Nico Kaltenbach" userId="67b3917844f514e8" providerId="LiveId" clId="{FB533942-7078-42B2-9190-E95B7123CED8}" dt="2025-08-18T09:53:52.328" v="355" actId="2696"/>
        <pc:sldMkLst>
          <pc:docMk/>
          <pc:sldMk cId="4233975749" sldId="2578"/>
        </pc:sldMkLst>
      </pc:sldChg>
      <pc:sldChg chg="addSp modSp add mod">
        <pc:chgData name="Nico Kaltenbach" userId="67b3917844f514e8" providerId="LiveId" clId="{FB533942-7078-42B2-9190-E95B7123CED8}" dt="2025-08-18T09:49:04.483" v="336" actId="14100"/>
        <pc:sldMkLst>
          <pc:docMk/>
          <pc:sldMk cId="3826697183" sldId="2579"/>
        </pc:sldMkLst>
        <pc:spChg chg="mod">
          <ac:chgData name="Nico Kaltenbach" userId="67b3917844f514e8" providerId="LiveId" clId="{FB533942-7078-42B2-9190-E95B7123CED8}" dt="2025-08-18T09:48:29.670" v="333" actId="20577"/>
          <ac:spMkLst>
            <pc:docMk/>
            <pc:sldMk cId="3826697183" sldId="2579"/>
            <ac:spMk id="5" creationId="{E5F965C5-B8A3-E36C-1A36-43A81C1E13F2}"/>
          </ac:spMkLst>
        </pc:spChg>
        <pc:spChg chg="mod">
          <ac:chgData name="Nico Kaltenbach" userId="67b3917844f514e8" providerId="LiveId" clId="{FB533942-7078-42B2-9190-E95B7123CED8}" dt="2025-08-18T09:38:54.501" v="129" actId="403"/>
          <ac:spMkLst>
            <pc:docMk/>
            <pc:sldMk cId="3826697183" sldId="2579"/>
            <ac:spMk id="7" creationId="{AFA30D62-8F3C-9FD8-1D1D-8602B630DB8F}"/>
          </ac:spMkLst>
        </pc:spChg>
        <pc:picChg chg="add mod">
          <ac:chgData name="Nico Kaltenbach" userId="67b3917844f514e8" providerId="LiveId" clId="{FB533942-7078-42B2-9190-E95B7123CED8}" dt="2025-08-18T09:49:04.483" v="336" actId="14100"/>
          <ac:picMkLst>
            <pc:docMk/>
            <pc:sldMk cId="3826697183" sldId="2579"/>
            <ac:picMk id="3" creationId="{A84AF6A6-E74E-73A5-1885-031783F388AF}"/>
          </ac:picMkLst>
        </pc:picChg>
      </pc:sldChg>
      <pc:sldChg chg="addSp delSp modSp add mod">
        <pc:chgData name="Nico Kaltenbach" userId="67b3917844f514e8" providerId="LiveId" clId="{FB533942-7078-42B2-9190-E95B7123CED8}" dt="2025-08-18T09:53:12.986" v="354" actId="14100"/>
        <pc:sldMkLst>
          <pc:docMk/>
          <pc:sldMk cId="1123613228" sldId="2580"/>
        </pc:sldMkLst>
        <pc:spChg chg="mod">
          <ac:chgData name="Nico Kaltenbach" userId="67b3917844f514e8" providerId="LiveId" clId="{FB533942-7078-42B2-9190-E95B7123CED8}" dt="2025-08-18T09:51:04.502" v="344" actId="20577"/>
          <ac:spMkLst>
            <pc:docMk/>
            <pc:sldMk cId="1123613228" sldId="2580"/>
            <ac:spMk id="5" creationId="{E6A3C390-CEB6-A7D2-638C-5D4E36BD1909}"/>
          </ac:spMkLst>
        </pc:spChg>
        <pc:spChg chg="mod">
          <ac:chgData name="Nico Kaltenbach" userId="67b3917844f514e8" providerId="LiveId" clId="{FB533942-7078-42B2-9190-E95B7123CED8}" dt="2025-08-18T09:38:57.971" v="130" actId="403"/>
          <ac:spMkLst>
            <pc:docMk/>
            <pc:sldMk cId="1123613228" sldId="2580"/>
            <ac:spMk id="7" creationId="{EAE168DF-EFC3-36FB-4F40-82BC1CDF0165}"/>
          </ac:spMkLst>
        </pc:spChg>
        <pc:picChg chg="add del mod">
          <ac:chgData name="Nico Kaltenbach" userId="67b3917844f514e8" providerId="LiveId" clId="{FB533942-7078-42B2-9190-E95B7123CED8}" dt="2025-08-18T09:52:57.822" v="351" actId="478"/>
          <ac:picMkLst>
            <pc:docMk/>
            <pc:sldMk cId="1123613228" sldId="2580"/>
            <ac:picMk id="3" creationId="{099F8EF4-87FF-F898-5B56-D0A2E12736F9}"/>
          </ac:picMkLst>
        </pc:picChg>
        <pc:picChg chg="add mod">
          <ac:chgData name="Nico Kaltenbach" userId="67b3917844f514e8" providerId="LiveId" clId="{FB533942-7078-42B2-9190-E95B7123CED8}" dt="2025-08-18T09:53:12.986" v="354" actId="14100"/>
          <ac:picMkLst>
            <pc:docMk/>
            <pc:sldMk cId="1123613228" sldId="2580"/>
            <ac:picMk id="4" creationId="{89FE5FF6-3E7F-6B39-1DDF-C6354D7EEFAF}"/>
          </ac:picMkLst>
        </pc:picChg>
      </pc:sldChg>
      <pc:sldChg chg="addSp delSp modSp add mod ord delAnim modAnim">
        <pc:chgData name="Nico Kaltenbach" userId="67b3917844f514e8" providerId="LiveId" clId="{FB533942-7078-42B2-9190-E95B7123CED8}" dt="2025-08-18T10:24:02.464" v="852"/>
        <pc:sldMkLst>
          <pc:docMk/>
          <pc:sldMk cId="3534805490" sldId="2581"/>
        </pc:sldMkLst>
        <pc:spChg chg="mod">
          <ac:chgData name="Nico Kaltenbach" userId="67b3917844f514e8" providerId="LiveId" clId="{FB533942-7078-42B2-9190-E95B7123CED8}" dt="2025-08-18T10:23:56.916" v="851" actId="122"/>
          <ac:spMkLst>
            <pc:docMk/>
            <pc:sldMk cId="3534805490" sldId="2581"/>
            <ac:spMk id="2" creationId="{A8C72960-677A-8883-1003-BC8D77308700}"/>
          </ac:spMkLst>
        </pc:spChg>
        <pc:spChg chg="del mod">
          <ac:chgData name="Nico Kaltenbach" userId="67b3917844f514e8" providerId="LiveId" clId="{FB533942-7078-42B2-9190-E95B7123CED8}" dt="2025-08-18T10:23:46.960" v="849" actId="478"/>
          <ac:spMkLst>
            <pc:docMk/>
            <pc:sldMk cId="3534805490" sldId="2581"/>
            <ac:spMk id="3" creationId="{7FA6B744-8D14-F57A-2D11-A212E2560F1E}"/>
          </ac:spMkLst>
        </pc:spChg>
        <pc:spChg chg="add del mod">
          <ac:chgData name="Nico Kaltenbach" userId="67b3917844f514e8" providerId="LiveId" clId="{FB533942-7078-42B2-9190-E95B7123CED8}" dt="2025-08-18T10:23:51.525" v="850" actId="478"/>
          <ac:spMkLst>
            <pc:docMk/>
            <pc:sldMk cId="3534805490" sldId="2581"/>
            <ac:spMk id="6" creationId="{0BDABF1F-EAB3-A73D-6659-112230EBC96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6A441-107C-4339-921F-3DCDB4FF885A}" type="datetimeFigureOut">
              <a:rPr lang="de-DE" smtClean="0"/>
              <a:t>18.08.2025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69E51-F8A0-4E4F-9E13-5F439FC15414}" type="slidenum">
              <a:rPr lang="de-DE" smtClean="0"/>
              <a:t>‹Nr.›</a:t>
            </a:fld>
            <a:endParaRPr lang="de-DE"/>
          </a:p>
        </p:txBody>
      </p:sp>
    </p:spTree>
    <p:extLst>
      <p:ext uri="{BB962C8B-B14F-4D97-AF65-F5344CB8AC3E}">
        <p14:creationId xmlns:p14="http://schemas.microsoft.com/office/powerpoint/2010/main" val="841789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KI-generierte Inhalte können fehlerhaft sein.
---
Diese Präsentation stellt unsere App vor, beschreibt die Entwicklungsziele, erklärt die Herausforderungen, denen wir begegnet sind, und beleuchtet die Besonderheiten bei der Umsetzung auf verschiedenen Plattformen. Wir geben außerdem Einblick in die eingesetzten nativen Schnittstellen und wichtige Aspekte der App-Entwicklung.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1</a:t>
            </a:fld>
            <a:endParaRPr lang="de-DE"/>
          </a:p>
        </p:txBody>
      </p:sp>
    </p:spTree>
    <p:extLst>
      <p:ext uri="{BB962C8B-B14F-4D97-AF65-F5344CB8AC3E}">
        <p14:creationId xmlns:p14="http://schemas.microsoft.com/office/powerpoint/2010/main" val="1049884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Wir beginnen mit der Vorstellung der Aufgabenstellung und Zielgruppe, gehen dann auf die Herausforderungen und deren Lösungen ein. Anschließend betrachten wir plattformspezifische Besonderheiten, die eingesetzten Plugins und schließen mit wichtigen Aspekten wie Datenschutz und Qualitätssicherung ab.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2</a:t>
            </a:fld>
            <a:endParaRPr lang="de-DE"/>
          </a:p>
        </p:txBody>
      </p:sp>
    </p:spTree>
    <p:extLst>
      <p:ext uri="{BB962C8B-B14F-4D97-AF65-F5344CB8AC3E}">
        <p14:creationId xmlns:p14="http://schemas.microsoft.com/office/powerpoint/2010/main" val="1696438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Unsere App wurde konzipiert, um eine spezifische Nutzergruppe gezielt anzusprechen. Wir erklären die Kernidee sowie die Bedürfnisse und Erwartungen der Zielgruppe, die den Entwicklungsfokus maßgeblich beeinflussen.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3</a:t>
            </a:fld>
            <a:endParaRPr lang="de-DE"/>
          </a:p>
        </p:txBody>
      </p:sp>
    </p:spTree>
    <p:extLst>
      <p:ext uri="{BB962C8B-B14F-4D97-AF65-F5344CB8AC3E}">
        <p14:creationId xmlns:p14="http://schemas.microsoft.com/office/powerpoint/2010/main" val="3547337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Hier stellen wir die wichtigsten Funktionen vor, die unsere App bietet, und erläutern die Hauptziele, wie Benutzerfreundlichkeit, Performance und innovative Features, die den Nutzen für die Anwender maximieren.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4</a:t>
            </a:fld>
            <a:endParaRPr lang="de-DE"/>
          </a:p>
        </p:txBody>
      </p:sp>
    </p:spTree>
    <p:extLst>
      <p:ext uri="{BB962C8B-B14F-4D97-AF65-F5344CB8AC3E}">
        <p14:creationId xmlns:p14="http://schemas.microsoft.com/office/powerpoint/2010/main" val="223596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Hier stellen wir die wichtigsten Funktionen vor, die unsere App bietet, und erläutern die Hauptziele, wie Benutzerfreundlichkeit, Performance und innovative Features, die den Nutzen für die Anwender maximieren.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5</a:t>
            </a:fld>
            <a:endParaRPr lang="de-DE"/>
          </a:p>
        </p:txBody>
      </p:sp>
    </p:spTree>
    <p:extLst>
      <p:ext uri="{BB962C8B-B14F-4D97-AF65-F5344CB8AC3E}">
        <p14:creationId xmlns:p14="http://schemas.microsoft.com/office/powerpoint/2010/main" val="4182742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Die Entwicklung unserer App war mit technischen und organisatorischen Herausforderungen verbunden. In diesem Abschnitt zeigen wir die Probleme auf, die wir bewältigen mussten, und die Strategien, mit denen wir diese erfolgreich gelöst haben.</a:t>
            </a:r>
          </a:p>
        </p:txBody>
      </p:sp>
      <p:sp>
        <p:nvSpPr>
          <p:cNvPr id="4" name="Foliennummernplatzhalter 3"/>
          <p:cNvSpPr>
            <a:spLocks noGrp="1"/>
          </p:cNvSpPr>
          <p:nvPr>
            <p:ph type="sldNum" sz="quarter" idx="5"/>
          </p:nvPr>
        </p:nvSpPr>
        <p:spPr/>
        <p:txBody>
          <a:bodyPr/>
          <a:lstStyle/>
          <a:p>
            <a:fld id="{A69F4264-2F3A-45BB-BB3C-7E34A0354990}" type="slidenum">
              <a:rPr lang="de-DE" smtClean="0"/>
              <a:t>6</a:t>
            </a:fld>
            <a:endParaRPr lang="de-DE"/>
          </a:p>
        </p:txBody>
      </p:sp>
    </p:spTree>
    <p:extLst>
      <p:ext uri="{BB962C8B-B14F-4D97-AF65-F5344CB8AC3E}">
        <p14:creationId xmlns:p14="http://schemas.microsoft.com/office/powerpoint/2010/main" val="2811831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Wir beschreiben spezifische technische Hürden, etwa bei der Integration von Funktionen oder Performance-Engpässen, sowie funktionale Schwierigkeiten, die während der Entwicklung aufgetreten sind und unseren Entwicklungsprozess beeinflusst haben.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7</a:t>
            </a:fld>
            <a:endParaRPr lang="de-DE"/>
          </a:p>
        </p:txBody>
      </p:sp>
    </p:spTree>
    <p:extLst>
      <p:ext uri="{BB962C8B-B14F-4D97-AF65-F5344CB8AC3E}">
        <p14:creationId xmlns:p14="http://schemas.microsoft.com/office/powerpoint/2010/main" val="735161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Um die App-Funktionalität zu erweitern, haben wir native Schnittstellen und Plugins genutzt. Dieser Abschnitt gibt einen Überblick über die Auswahl und Integration dieser Komponenten sowie deren Bedeutung für die App.</a:t>
            </a:r>
          </a:p>
        </p:txBody>
      </p:sp>
      <p:sp>
        <p:nvSpPr>
          <p:cNvPr id="4" name="Foliennummernplatzhalter 3"/>
          <p:cNvSpPr>
            <a:spLocks noGrp="1"/>
          </p:cNvSpPr>
          <p:nvPr>
            <p:ph type="sldNum" sz="quarter" idx="5"/>
          </p:nvPr>
        </p:nvSpPr>
        <p:spPr/>
        <p:txBody>
          <a:bodyPr/>
          <a:lstStyle/>
          <a:p>
            <a:fld id="{A69F4264-2F3A-45BB-BB3C-7E34A0354990}" type="slidenum">
              <a:rPr lang="de-DE" smtClean="0"/>
              <a:t>8</a:t>
            </a:fld>
            <a:endParaRPr lang="de-DE"/>
          </a:p>
        </p:txBody>
      </p:sp>
    </p:spTree>
    <p:extLst>
      <p:ext uri="{BB962C8B-B14F-4D97-AF65-F5344CB8AC3E}">
        <p14:creationId xmlns:p14="http://schemas.microsoft.com/office/powerpoint/2010/main" val="4015024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Wir berichten über den Auswahlprozess der Plugins, Kriterien wie Leistungsfähigkeit und Kompatibilität und den Integrationsprozess in unsere App-Architektur.
Bildquelle: Microsoft 365-Inhaltsbibliothek
</a:t>
            </a:r>
          </a:p>
        </p:txBody>
      </p:sp>
      <p:sp>
        <p:nvSpPr>
          <p:cNvPr id="4" name="Foliennummernplatzhalter 3"/>
          <p:cNvSpPr>
            <a:spLocks noGrp="1"/>
          </p:cNvSpPr>
          <p:nvPr>
            <p:ph type="sldNum" sz="quarter" idx="5"/>
          </p:nvPr>
        </p:nvSpPr>
        <p:spPr/>
        <p:txBody>
          <a:bodyPr/>
          <a:lstStyle/>
          <a:p>
            <a:fld id="{A69F4264-2F3A-45BB-BB3C-7E34A0354990}" type="slidenum">
              <a:rPr lang="de-DE" smtClean="0"/>
              <a:t>9</a:t>
            </a:fld>
            <a:endParaRPr lang="de-DE"/>
          </a:p>
        </p:txBody>
      </p:sp>
    </p:spTree>
    <p:extLst>
      <p:ext uri="{BB962C8B-B14F-4D97-AF65-F5344CB8AC3E}">
        <p14:creationId xmlns:p14="http://schemas.microsoft.com/office/powerpoint/2010/main" val="4196489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9988F-B7CA-8CEA-FD17-197D0FDB0EE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59D9E0F-CCCA-C197-6018-86AB3FDF7C9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3D604F-C068-72E3-F575-F9D1BAB7C530}"/>
              </a:ext>
            </a:extLst>
          </p:cNvPr>
          <p:cNvSpPr>
            <a:spLocks noGrp="1"/>
          </p:cNvSpPr>
          <p:nvPr>
            <p:ph type="body" idx="1"/>
          </p:nvPr>
        </p:nvSpPr>
        <p:spPr/>
        <p:txBody>
          <a:bodyPr/>
          <a:lstStyle/>
          <a:p>
            <a:r>
              <a:rPr lang="de-DE"/>
              <a:t>
---
Wir berichten über den Auswahlprozess der Plugins, Kriterien wie Leistungsfähigkeit und Kompatibilität und den Integrationsprozess in unsere App-Architektur.
Bildquelle: Microsoft 365-Inhaltsbibliothek
</a:t>
            </a:r>
          </a:p>
        </p:txBody>
      </p:sp>
      <p:sp>
        <p:nvSpPr>
          <p:cNvPr id="4" name="Foliennummernplatzhalter 3">
            <a:extLst>
              <a:ext uri="{FF2B5EF4-FFF2-40B4-BE49-F238E27FC236}">
                <a16:creationId xmlns:a16="http://schemas.microsoft.com/office/drawing/2014/main" id="{1C4FE7B8-FD92-AB54-D18F-C59FF366C7E2}"/>
              </a:ext>
            </a:extLst>
          </p:cNvPr>
          <p:cNvSpPr>
            <a:spLocks noGrp="1"/>
          </p:cNvSpPr>
          <p:nvPr>
            <p:ph type="sldNum" sz="quarter" idx="5"/>
          </p:nvPr>
        </p:nvSpPr>
        <p:spPr/>
        <p:txBody>
          <a:bodyPr/>
          <a:lstStyle/>
          <a:p>
            <a:fld id="{A69F4264-2F3A-45BB-BB3C-7E34A0354990}" type="slidenum">
              <a:rPr lang="de-DE" smtClean="0"/>
              <a:t>10</a:t>
            </a:fld>
            <a:endParaRPr lang="de-DE"/>
          </a:p>
        </p:txBody>
      </p:sp>
    </p:spTree>
    <p:extLst>
      <p:ext uri="{BB962C8B-B14F-4D97-AF65-F5344CB8AC3E}">
        <p14:creationId xmlns:p14="http://schemas.microsoft.com/office/powerpoint/2010/main" val="1117634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CC097-30F1-C1D7-7C13-0B27EFB6246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DDD4CC2-1EFC-9018-7B5B-9FF5C1A0971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A3DBA05-ED3C-EEBB-7A3B-9125FE1F925E}"/>
              </a:ext>
            </a:extLst>
          </p:cNvPr>
          <p:cNvSpPr>
            <a:spLocks noGrp="1"/>
          </p:cNvSpPr>
          <p:nvPr>
            <p:ph type="body" idx="1"/>
          </p:nvPr>
        </p:nvSpPr>
        <p:spPr/>
        <p:txBody>
          <a:bodyPr/>
          <a:lstStyle/>
          <a:p>
            <a:r>
              <a:rPr lang="de-DE"/>
              <a:t>
---
Wir berichten über den Auswahlprozess der Plugins, Kriterien wie Leistungsfähigkeit und Kompatibilität und den Integrationsprozess in unsere App-Architektur.
Bildquelle: Microsoft 365-Inhaltsbibliothek
</a:t>
            </a:r>
          </a:p>
        </p:txBody>
      </p:sp>
      <p:sp>
        <p:nvSpPr>
          <p:cNvPr id="4" name="Foliennummernplatzhalter 3">
            <a:extLst>
              <a:ext uri="{FF2B5EF4-FFF2-40B4-BE49-F238E27FC236}">
                <a16:creationId xmlns:a16="http://schemas.microsoft.com/office/drawing/2014/main" id="{E17751B0-EC5A-C29E-95C6-224AD732CEA0}"/>
              </a:ext>
            </a:extLst>
          </p:cNvPr>
          <p:cNvSpPr>
            <a:spLocks noGrp="1"/>
          </p:cNvSpPr>
          <p:nvPr>
            <p:ph type="sldNum" sz="quarter" idx="5"/>
          </p:nvPr>
        </p:nvSpPr>
        <p:spPr/>
        <p:txBody>
          <a:bodyPr/>
          <a:lstStyle/>
          <a:p>
            <a:fld id="{A69F4264-2F3A-45BB-BB3C-7E34A0354990}" type="slidenum">
              <a:rPr lang="de-DE" smtClean="0"/>
              <a:t>11</a:t>
            </a:fld>
            <a:endParaRPr lang="de-DE"/>
          </a:p>
        </p:txBody>
      </p:sp>
    </p:spTree>
    <p:extLst>
      <p:ext uri="{BB962C8B-B14F-4D97-AF65-F5344CB8AC3E}">
        <p14:creationId xmlns:p14="http://schemas.microsoft.com/office/powerpoint/2010/main" val="14261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8238D-FD9E-E78F-B817-1B3A03CC9EC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67D0E68-18B1-3E5E-E188-E56C6E80C19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EDB0AE3-4117-9F19-8BC9-445E3B69CD13}"/>
              </a:ext>
            </a:extLst>
          </p:cNvPr>
          <p:cNvSpPr>
            <a:spLocks noGrp="1"/>
          </p:cNvSpPr>
          <p:nvPr>
            <p:ph type="body" idx="1"/>
          </p:nvPr>
        </p:nvSpPr>
        <p:spPr/>
        <p:txBody>
          <a:bodyPr/>
          <a:lstStyle/>
          <a:p>
            <a:r>
              <a:rPr lang="de-DE"/>
              <a:t>KI-generierte Inhalte können fehlerhaft sein.
---
Diese Präsentation stellt unsere App vor, beschreibt die Entwicklungsziele, erklärt die Herausforderungen, denen wir begegnet sind, und beleuchtet die Besonderheiten bei der Umsetzung auf verschiedenen Plattformen. Wir geben außerdem Einblick in die eingesetzten nativen Schnittstellen und wichtige Aspekte der App-Entwicklung.
Bildquelle: Microsoft 365-Inhaltsbibliothek
</a:t>
            </a:r>
          </a:p>
        </p:txBody>
      </p:sp>
      <p:sp>
        <p:nvSpPr>
          <p:cNvPr id="4" name="Foliennummernplatzhalter 3">
            <a:extLst>
              <a:ext uri="{FF2B5EF4-FFF2-40B4-BE49-F238E27FC236}">
                <a16:creationId xmlns:a16="http://schemas.microsoft.com/office/drawing/2014/main" id="{00AE26BE-0AE0-BA84-0BCD-F574457D8B2A}"/>
              </a:ext>
            </a:extLst>
          </p:cNvPr>
          <p:cNvSpPr>
            <a:spLocks noGrp="1"/>
          </p:cNvSpPr>
          <p:nvPr>
            <p:ph type="sldNum" sz="quarter" idx="5"/>
          </p:nvPr>
        </p:nvSpPr>
        <p:spPr/>
        <p:txBody>
          <a:bodyPr/>
          <a:lstStyle/>
          <a:p>
            <a:fld id="{A69F4264-2F3A-45BB-BB3C-7E34A0354990}" type="slidenum">
              <a:rPr lang="de-DE" smtClean="0"/>
              <a:t>12</a:t>
            </a:fld>
            <a:endParaRPr lang="de-DE"/>
          </a:p>
        </p:txBody>
      </p:sp>
    </p:spTree>
    <p:extLst>
      <p:ext uri="{BB962C8B-B14F-4D97-AF65-F5344CB8AC3E}">
        <p14:creationId xmlns:p14="http://schemas.microsoft.com/office/powerpoint/2010/main" val="3352869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8/18/2025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1998015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8/18/2025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3265624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8/18/2025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‹Nr.›</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15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8/18/2025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97879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8/18/2025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849015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8/18/2025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259583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8/18/2025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7567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8/18/2025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674501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8/18/2025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85332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8/18/2025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1827850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8/18/2025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‹Nr.›</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635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8/18/2025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‹Nr.›</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6350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5C5FF3E-7B64-61AC-996E-3F8C7A4B978A}"/>
              </a:ext>
            </a:extLst>
          </p:cNvPr>
          <p:cNvSpPr>
            <a:spLocks noGrp="1"/>
          </p:cNvSpPr>
          <p:nvPr>
            <p:ph type="ctrTitle"/>
          </p:nvPr>
        </p:nvSpPr>
        <p:spPr>
          <a:xfrm>
            <a:off x="7537528" y="1032764"/>
            <a:ext cx="4308672" cy="3224045"/>
          </a:xfrm>
        </p:spPr>
        <p:txBody>
          <a:bodyPr anchor="b">
            <a:normAutofit/>
          </a:bodyPr>
          <a:lstStyle/>
          <a:p>
            <a:pPr>
              <a:lnSpc>
                <a:spcPct val="90000"/>
              </a:lnSpc>
            </a:pPr>
            <a:r>
              <a:rPr lang="de-DE" sz="4800" dirty="0"/>
              <a:t>Vorstellung unserer App: NFC-Scanner</a:t>
            </a:r>
          </a:p>
        </p:txBody>
      </p:sp>
      <p:sp>
        <p:nvSpPr>
          <p:cNvPr id="3" name="Untertitel 2">
            <a:extLst>
              <a:ext uri="{FF2B5EF4-FFF2-40B4-BE49-F238E27FC236}">
                <a16:creationId xmlns:a16="http://schemas.microsoft.com/office/drawing/2014/main" id="{C836F7F0-8472-DF23-5598-9D74D85E08EA}"/>
              </a:ext>
            </a:extLst>
          </p:cNvPr>
          <p:cNvSpPr>
            <a:spLocks noGrp="1"/>
          </p:cNvSpPr>
          <p:nvPr>
            <p:ph type="subTitle" idx="1"/>
          </p:nvPr>
        </p:nvSpPr>
        <p:spPr>
          <a:xfrm>
            <a:off x="7535756" y="5046281"/>
            <a:ext cx="4308672" cy="1172408"/>
          </a:xfrm>
        </p:spPr>
        <p:txBody>
          <a:bodyPr anchor="t">
            <a:normAutofit/>
          </a:bodyPr>
          <a:lstStyle/>
          <a:p>
            <a:r>
              <a:rPr lang="de-DE" dirty="0"/>
              <a:t>Einblick in Funktionen  und Probleme</a:t>
            </a:r>
          </a:p>
        </p:txBody>
      </p:sp>
      <p:pic>
        <p:nvPicPr>
          <p:cNvPr id="4" name="Grafik 3" descr="4K-Auflösung">
            <a:extLst>
              <a:ext uri="{FF2B5EF4-FFF2-40B4-BE49-F238E27FC236}">
                <a16:creationId xmlns:a16="http://schemas.microsoft.com/office/drawing/2014/main" id="{9CD57E94-1893-48A0-944A-72982E6B3FEB}"/>
              </a:ext>
            </a:extLst>
          </p:cNvPr>
          <p:cNvPicPr>
            <a:picLocks noChangeAspect="1"/>
          </p:cNvPicPr>
          <p:nvPr/>
        </p:nvPicPr>
        <p:blipFill>
          <a:blip r:embed="rId3"/>
          <a:srcRect l="22146" r="21004"/>
          <a:stretch>
            <a:fillRect/>
          </a:stretch>
        </p:blipFill>
        <p:spPr>
          <a:xfrm>
            <a:off x="20" y="10"/>
            <a:ext cx="6931132" cy="6857990"/>
          </a:xfrm>
          <a:prstGeom prst="rect">
            <a:avLst/>
          </a:prstGeom>
        </p:spPr>
      </p:pic>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78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42E38EF-0FDE-255D-D1D0-BA2170B247B9}"/>
              </a:ext>
            </a:extLst>
          </p:cNvPr>
          <p:cNvSpPr>
            <a:spLocks noGrp="1"/>
          </p:cNvSpPr>
          <p:nvPr>
            <p:ph type="title"/>
          </p:nvPr>
        </p:nvSpPr>
        <p:spPr>
          <a:xfrm>
            <a:off x="7269904" y="914400"/>
            <a:ext cx="4261104" cy="701559"/>
          </a:xfrm>
        </p:spPr>
        <p:txBody>
          <a:bodyPr vert="horz" lIns="91440" tIns="45720" rIns="91440" bIns="45720" rtlCol="0" anchor="t">
            <a:normAutofit/>
          </a:bodyPr>
          <a:lstStyle/>
          <a:p>
            <a:pPr>
              <a:lnSpc>
                <a:spcPct val="90000"/>
              </a:lnSpc>
            </a:pPr>
            <a:r>
              <a:rPr lang="en-US" sz="3600" dirty="0"/>
              <a:t>Agenda</a:t>
            </a:r>
          </a:p>
        </p:txBody>
      </p:sp>
      <p:pic>
        <p:nvPicPr>
          <p:cNvPr id="5" name="Inhaltsplatzhalter 4" descr="Globale Kommunikation und Zusammenarbeit unter Einbeziehung elektronischer Seile und Schlüssel durch soziale Vernetzung von Smartphones, die mit KI ausgestattet sind.">
            <a:extLst>
              <a:ext uri="{FF2B5EF4-FFF2-40B4-BE49-F238E27FC236}">
                <a16:creationId xmlns:a16="http://schemas.microsoft.com/office/drawing/2014/main" id="{FF69D6CC-B67A-4232-91F4-950880EFB5FC}"/>
              </a:ext>
            </a:extLst>
          </p:cNvPr>
          <p:cNvPicPr>
            <a:picLocks noGrp="1" noChangeAspect="1"/>
          </p:cNvPicPr>
          <p:nvPr>
            <p:ph sz="half" idx="1"/>
          </p:nvPr>
        </p:nvPicPr>
        <p:blipFill>
          <a:blip r:embed="rId3"/>
          <a:srcRect l="9798" r="7198"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33D566F7-EF0E-FAF0-7D1D-BF59FF710404}"/>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pPr>
              <a:lnSpc>
                <a:spcPct val="110000"/>
              </a:lnSpc>
            </a:pPr>
            <a:r>
              <a:rPr lang="en-US" sz="2400" dirty="0" err="1"/>
              <a:t>Unsere</a:t>
            </a:r>
            <a:r>
              <a:rPr lang="en-US" sz="2400" dirty="0"/>
              <a:t> </a:t>
            </a:r>
            <a:r>
              <a:rPr lang="en-US" sz="2400" dirty="0" err="1"/>
              <a:t>Aufgabenstellung</a:t>
            </a:r>
            <a:r>
              <a:rPr lang="en-US" sz="2400" dirty="0"/>
              <a:t> / Live - Demo</a:t>
            </a:r>
          </a:p>
          <a:p>
            <a:pPr>
              <a:lnSpc>
                <a:spcPct val="110000"/>
              </a:lnSpc>
            </a:pPr>
            <a:r>
              <a:rPr lang="en-US" sz="2400" dirty="0" err="1"/>
              <a:t>Herausforderungen</a:t>
            </a:r>
            <a:r>
              <a:rPr lang="en-US" sz="2400" dirty="0"/>
              <a:t> und </a:t>
            </a:r>
            <a:r>
              <a:rPr lang="en-US" sz="2400" dirty="0" err="1"/>
              <a:t>deren</a:t>
            </a:r>
            <a:r>
              <a:rPr lang="en-US" sz="2400" dirty="0"/>
              <a:t> </a:t>
            </a:r>
            <a:r>
              <a:rPr lang="en-US" sz="2400" dirty="0" err="1"/>
              <a:t>Lösungswege</a:t>
            </a:r>
            <a:endParaRPr lang="en-US" sz="2400" dirty="0"/>
          </a:p>
          <a:p>
            <a:pPr>
              <a:lnSpc>
                <a:spcPct val="110000"/>
              </a:lnSpc>
            </a:pPr>
            <a:r>
              <a:rPr lang="en-US" sz="2400" dirty="0" err="1"/>
              <a:t>Verwendete</a:t>
            </a:r>
            <a:r>
              <a:rPr lang="en-US" sz="2400" dirty="0"/>
              <a:t> Plugins</a:t>
            </a:r>
          </a:p>
        </p:txBody>
      </p:sp>
    </p:spTree>
    <p:extLst>
      <p:ext uri="{BB962C8B-B14F-4D97-AF65-F5344CB8AC3E}">
        <p14:creationId xmlns:p14="http://schemas.microsoft.com/office/powerpoint/2010/main" val="2573194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el 1">
            <a:extLst>
              <a:ext uri="{FF2B5EF4-FFF2-40B4-BE49-F238E27FC236}">
                <a16:creationId xmlns:a16="http://schemas.microsoft.com/office/drawing/2014/main" id="{60AAC11D-8E03-DCD3-7E4D-495B990991EB}"/>
              </a:ext>
            </a:extLst>
          </p:cNvPr>
          <p:cNvSpPr>
            <a:spLocks noGrp="1"/>
          </p:cNvSpPr>
          <p:nvPr>
            <p:ph type="title"/>
          </p:nvPr>
        </p:nvSpPr>
        <p:spPr>
          <a:xfrm>
            <a:off x="2222089" y="422787"/>
            <a:ext cx="7374194" cy="737419"/>
          </a:xfrm>
        </p:spPr>
        <p:txBody>
          <a:bodyPr>
            <a:normAutofit/>
          </a:bodyPr>
          <a:lstStyle/>
          <a:p>
            <a:r>
              <a:rPr lang="de-DE" sz="3600" dirty="0"/>
              <a:t>Beschreibung der Aufgabenstellung</a:t>
            </a:r>
          </a:p>
        </p:txBody>
      </p:sp>
      <p:pic>
        <p:nvPicPr>
          <p:cNvPr id="7" name="Inhaltsplatzhalter 6">
            <a:extLst>
              <a:ext uri="{FF2B5EF4-FFF2-40B4-BE49-F238E27FC236}">
                <a16:creationId xmlns:a16="http://schemas.microsoft.com/office/drawing/2014/main" id="{B989099A-39EA-10B2-6347-51BCE18C4D87}"/>
              </a:ext>
            </a:extLst>
          </p:cNvPr>
          <p:cNvPicPr>
            <a:picLocks noGrp="1" noChangeAspect="1"/>
          </p:cNvPicPr>
          <p:nvPr>
            <p:ph idx="1"/>
          </p:nvPr>
        </p:nvPicPr>
        <p:blipFill>
          <a:blip r:embed="rId3"/>
          <a:stretch>
            <a:fillRect/>
          </a:stretch>
        </p:blipFill>
        <p:spPr>
          <a:xfrm>
            <a:off x="2876581" y="1383887"/>
            <a:ext cx="6065211" cy="4090219"/>
          </a:xfrm>
          <a:prstGeom prst="rect">
            <a:avLst/>
          </a:prstGeom>
          <a:noFill/>
          <a:effectLst>
            <a:softEdge rad="31750"/>
          </a:effectLst>
        </p:spPr>
      </p:pic>
    </p:spTree>
    <p:extLst>
      <p:ext uri="{BB962C8B-B14F-4D97-AF65-F5344CB8AC3E}">
        <p14:creationId xmlns:p14="http://schemas.microsoft.com/office/powerpoint/2010/main" val="397744673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5901D7F-50EE-9B14-AC63-F63861246A63}"/>
              </a:ext>
            </a:extLst>
          </p:cNvPr>
          <p:cNvSpPr>
            <a:spLocks noGrp="1"/>
          </p:cNvSpPr>
          <p:nvPr>
            <p:ph type="title"/>
          </p:nvPr>
        </p:nvSpPr>
        <p:spPr>
          <a:xfrm>
            <a:off x="4976958" y="208894"/>
            <a:ext cx="6501810" cy="1097280"/>
          </a:xfrm>
        </p:spPr>
        <p:txBody>
          <a:bodyPr vert="horz" lIns="91440" tIns="45720" rIns="91440" bIns="45720" rtlCol="0" anchor="t">
            <a:normAutofit/>
          </a:bodyPr>
          <a:lstStyle/>
          <a:p>
            <a:pPr>
              <a:lnSpc>
                <a:spcPct val="90000"/>
              </a:lnSpc>
            </a:pPr>
            <a:r>
              <a:rPr lang="en-US" sz="3400" dirty="0" err="1"/>
              <a:t>Anforderungen</a:t>
            </a:r>
            <a:r>
              <a:rPr lang="en-US" sz="3400" dirty="0"/>
              <a:t> der App</a:t>
            </a:r>
          </a:p>
        </p:txBody>
      </p:sp>
      <p:pic>
        <p:nvPicPr>
          <p:cNvPr id="5" name="Inhaltsplatzhalter 4" descr="Beschnittenes Bild einer Frau, die das Smartphone verwendet, um Online-Aktienhandel auf der mobilen Plattform-App zu investieren">
            <a:extLst>
              <a:ext uri="{FF2B5EF4-FFF2-40B4-BE49-F238E27FC236}">
                <a16:creationId xmlns:a16="http://schemas.microsoft.com/office/drawing/2014/main" id="{FF970F2F-0297-45F7-B206-4B2086C87E92}"/>
              </a:ext>
            </a:extLst>
          </p:cNvPr>
          <p:cNvPicPr>
            <a:picLocks noGrp="1" noChangeAspect="1"/>
          </p:cNvPicPr>
          <p:nvPr>
            <p:ph sz="half" idx="1"/>
          </p:nvPr>
        </p:nvPicPr>
        <p:blipFill>
          <a:blip r:embed="rId3"/>
          <a:srcRect l="18178" r="26756"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Grafik 5">
            <a:extLst>
              <a:ext uri="{FF2B5EF4-FFF2-40B4-BE49-F238E27FC236}">
                <a16:creationId xmlns:a16="http://schemas.microsoft.com/office/drawing/2014/main" id="{9C3A792A-3E4E-C894-86ED-1914272F2973}"/>
              </a:ext>
            </a:extLst>
          </p:cNvPr>
          <p:cNvPicPr>
            <a:picLocks noChangeAspect="1"/>
          </p:cNvPicPr>
          <p:nvPr/>
        </p:nvPicPr>
        <p:blipFill>
          <a:blip r:embed="rId4"/>
          <a:stretch>
            <a:fillRect/>
          </a:stretch>
        </p:blipFill>
        <p:spPr>
          <a:xfrm>
            <a:off x="6203745" y="1031001"/>
            <a:ext cx="5496642" cy="5357877"/>
          </a:xfrm>
          <a:prstGeom prst="rect">
            <a:avLst/>
          </a:prstGeom>
          <a:effectLst>
            <a:softEdge rad="12700"/>
          </a:effectLst>
        </p:spPr>
      </p:pic>
    </p:spTree>
    <p:extLst>
      <p:ext uri="{BB962C8B-B14F-4D97-AF65-F5344CB8AC3E}">
        <p14:creationId xmlns:p14="http://schemas.microsoft.com/office/powerpoint/2010/main" val="348004144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5901D7F-50EE-9B14-AC63-F63861246A63}"/>
              </a:ext>
            </a:extLst>
          </p:cNvPr>
          <p:cNvSpPr>
            <a:spLocks noGrp="1"/>
          </p:cNvSpPr>
          <p:nvPr>
            <p:ph type="title"/>
          </p:nvPr>
        </p:nvSpPr>
        <p:spPr>
          <a:xfrm>
            <a:off x="3645194" y="123278"/>
            <a:ext cx="4574881" cy="807054"/>
          </a:xfrm>
        </p:spPr>
        <p:txBody>
          <a:bodyPr vert="horz" lIns="91440" tIns="45720" rIns="91440" bIns="45720" rtlCol="0" anchor="t">
            <a:normAutofit/>
          </a:bodyPr>
          <a:lstStyle/>
          <a:p>
            <a:pPr>
              <a:lnSpc>
                <a:spcPct val="90000"/>
              </a:lnSpc>
            </a:pPr>
            <a:r>
              <a:rPr lang="en-US" dirty="0"/>
              <a:t>Live-Demo der App</a:t>
            </a:r>
          </a:p>
        </p:txBody>
      </p:sp>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2DA3B1BD-372B-1CE9-A3F4-A7645E3B190D}"/>
              </a:ext>
            </a:extLst>
          </p:cNvPr>
          <p:cNvSpPr>
            <a:spLocks noGrp="1" noChangeArrowheads="1"/>
          </p:cNvSpPr>
          <p:nvPr>
            <p:ph sz="half" idx="1"/>
          </p:nvPr>
        </p:nvSpPr>
        <p:spPr bwMode="auto">
          <a:xfrm>
            <a:off x="1057275" y="1263234"/>
            <a:ext cx="11010900"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lang="de-DE" altLang="de-DE" dirty="0">
                <a:latin typeface="Arial" panose="020B0604020202020204" pitchFamily="34" charset="0"/>
                <a:cs typeface="Arial" panose="020B0604020202020204" pitchFamily="34" charset="0"/>
              </a:rPr>
              <a:t>U</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nterstützt mindestens eine der beiden Plattformen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Android</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oder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iOS</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indent="0" eaLnBrk="0" fontAlgn="base" hangingPunct="0">
              <a:lnSpc>
                <a:spcPct val="150000"/>
              </a:lnSpc>
              <a:spcBef>
                <a:spcPct val="0"/>
              </a:spcBef>
              <a:spcAft>
                <a:spcPct val="0"/>
              </a:spcAft>
              <a:buSzTx/>
              <a:buNone/>
            </a:pP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Übersichtsseite besitzt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Button</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der den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Lesevorgang</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und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Schreibvorgang</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startet. </a:t>
            </a:r>
          </a:p>
          <a:p>
            <a:pPr marL="0" marR="0" lvl="0" indent="0" algn="l" defTabSz="914400" rtl="0" eaLnBrk="0" fontAlgn="base" latinLnBrk="0" hangingPunct="0">
              <a:lnSpc>
                <a:spcPct val="150000"/>
              </a:lnSpc>
              <a:spcBef>
                <a:spcPct val="0"/>
              </a:spcBef>
              <a:spcAft>
                <a:spcPct val="0"/>
              </a:spcAft>
              <a:buClrTx/>
              <a:buSzTx/>
              <a:buNone/>
              <a:tabLst/>
            </a:pP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Berechtigungen</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müssen von der App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angefordert</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werden. (Falls </a:t>
            </a:r>
            <a:r>
              <a:rPr kumimoji="0" lang="de-DE" altLang="de-DE" i="0" u="none" strike="noStrike" cap="none" normalizeH="0" baseline="0" dirty="0">
                <a:ln>
                  <a:noFill/>
                </a:ln>
                <a:solidFill>
                  <a:schemeClr val="tx1"/>
                </a:solidFill>
                <a:effectLst/>
                <a:latin typeface="Arial" panose="020B0604020202020204" pitchFamily="34" charset="0"/>
                <a:cs typeface="Arial" panose="020B0604020202020204" pitchFamily="34" charset="0"/>
              </a:rPr>
              <a:t>NFC</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deaktiviert ist, Hinweis!) </a:t>
            </a:r>
          </a:p>
          <a:p>
            <a:pPr marL="0" marR="0" lvl="0" indent="0" algn="l" defTabSz="914400" rtl="0" eaLnBrk="0" fontAlgn="base" latinLnBrk="0" hangingPunct="0">
              <a:lnSpc>
                <a:spcPct val="150000"/>
              </a:lnSpc>
              <a:spcBef>
                <a:spcPct val="0"/>
              </a:spcBef>
              <a:spcAft>
                <a:spcPct val="0"/>
              </a:spcAft>
              <a:buClrTx/>
              <a:buSzTx/>
              <a:buNone/>
              <a:tabLst/>
            </a:pP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“Abbrechen”-</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Button, der Lese und Schreibvorgang stoppen kann.</a:t>
            </a:r>
          </a:p>
          <a:p>
            <a:pPr marL="0" marR="0" lvl="0" indent="0" algn="l" defTabSz="914400" rtl="0" eaLnBrk="0" fontAlgn="base" latinLnBrk="0" hangingPunct="0">
              <a:lnSpc>
                <a:spcPct val="150000"/>
              </a:lnSpc>
              <a:spcBef>
                <a:spcPct val="0"/>
              </a:spcBef>
              <a:spcAft>
                <a:spcPct val="0"/>
              </a:spcAft>
              <a:buClrTx/>
              <a:buSzTx/>
              <a:buNone/>
              <a:tabLst/>
            </a:pP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Es können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beliebige Textinhalte </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auf einen NFC-Tag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geschrieben</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werden. </a:t>
            </a:r>
          </a:p>
          <a:p>
            <a:pPr marL="0" marR="0" lvl="0" indent="0" algn="l" defTabSz="914400" rtl="0" eaLnBrk="0" fontAlgn="base" latinLnBrk="0" hangingPunct="0">
              <a:lnSpc>
                <a:spcPct val="150000"/>
              </a:lnSpc>
              <a:spcBef>
                <a:spcPct val="0"/>
              </a:spcBef>
              <a:spcAft>
                <a:spcPct val="0"/>
              </a:spcAft>
              <a:buClrTx/>
              <a:buSzTx/>
              <a:buNone/>
              <a:tabLst/>
            </a:pP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Nach dem Lesen eines NFC-Tags werden </a:t>
            </a:r>
            <a:r>
              <a:rPr kumimoji="0" lang="de-DE" altLang="de-DE"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id</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de-DE" altLang="de-DE"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payload</a:t>
            </a:r>
            <a:r>
              <a:rPr lang="de-DE" altLang="de-DE" dirty="0">
                <a:latin typeface="Arial" panose="020B0604020202020204" pitchFamily="34" charset="0"/>
                <a:cs typeface="Arial" panose="020B0604020202020204" pitchFamily="34" charset="0"/>
              </a:rPr>
              <a:t>, </a:t>
            </a:r>
            <a:r>
              <a:rPr kumimoji="0" lang="de-DE" altLang="de-DE"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isWritable</a:t>
            </a:r>
            <a:r>
              <a:rPr lang="de-DE" altLang="de-DE" dirty="0">
                <a:latin typeface="Arial" panose="020B0604020202020204" pitchFamily="34" charset="0"/>
                <a:cs typeface="Arial" panose="020B0604020202020204" pitchFamily="34" charset="0"/>
              </a:rPr>
              <a:t> und die Bytes in </a:t>
            </a:r>
            <a:r>
              <a:rPr lang="de-DE" altLang="de-DE" b="1" dirty="0">
                <a:latin typeface="Arial" panose="020B0604020202020204" pitchFamily="34" charset="0"/>
                <a:cs typeface="Arial" panose="020B0604020202020204" pitchFamily="34" charset="0"/>
              </a:rPr>
              <a:t>Hexadezimal-Notation</a:t>
            </a:r>
            <a:r>
              <a:rPr lang="de-DE" altLang="de-DE" dirty="0">
                <a:latin typeface="Arial" panose="020B0604020202020204" pitchFamily="34" charset="0"/>
                <a:cs typeface="Arial" panose="020B0604020202020204" pitchFamily="34" charset="0"/>
              </a:rPr>
              <a:t> </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auf einer Detailseite angezeigt. </a:t>
            </a:r>
          </a:p>
          <a:p>
            <a:pPr marL="0" marR="0" lvl="0" indent="0" algn="l" defTabSz="914400" rtl="0" eaLnBrk="0" fontAlgn="base" latinLnBrk="0" hangingPunct="0">
              <a:lnSpc>
                <a:spcPct val="150000"/>
              </a:lnSpc>
              <a:spcBef>
                <a:spcPct val="0"/>
              </a:spcBef>
              <a:spcAft>
                <a:spcPct val="0"/>
              </a:spcAft>
              <a:buClrTx/>
              <a:buSzTx/>
              <a:buNone/>
              <a:tabLst/>
            </a:pP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Auf der Detailseite kann die </a:t>
            </a:r>
            <a:r>
              <a:rPr kumimoji="0" lang="de-DE" altLang="de-DE"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payload</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des NFC-Tags in die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Zwischenablage kopiert</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und </a:t>
            </a:r>
            <a:r>
              <a:rPr kumimoji="0" lang="de-DE" altLang="de-DE" b="1" i="0" u="none" strike="noStrike" cap="none" normalizeH="0" baseline="0" dirty="0">
                <a:ln>
                  <a:noFill/>
                </a:ln>
                <a:solidFill>
                  <a:schemeClr val="tx1"/>
                </a:solidFill>
                <a:effectLst/>
                <a:latin typeface="Arial" panose="020B0604020202020204" pitchFamily="34" charset="0"/>
                <a:cs typeface="Arial" panose="020B0604020202020204" pitchFamily="34" charset="0"/>
              </a:rPr>
              <a:t>geteilt</a:t>
            </a:r>
            <a:r>
              <a:rPr kumimoji="0" lang="de-DE" altLang="de-DE"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werden. </a:t>
            </a:r>
          </a:p>
        </p:txBody>
      </p:sp>
      <p:sp>
        <p:nvSpPr>
          <p:cNvPr id="9" name="Rechteck: abgerundete Ecken 8">
            <a:extLst>
              <a:ext uri="{FF2B5EF4-FFF2-40B4-BE49-F238E27FC236}">
                <a16:creationId xmlns:a16="http://schemas.microsoft.com/office/drawing/2014/main" id="{0BD5DDA3-4262-EB61-FC1F-3FA307ECA6FD}"/>
              </a:ext>
            </a:extLst>
          </p:cNvPr>
          <p:cNvSpPr/>
          <p:nvPr/>
        </p:nvSpPr>
        <p:spPr>
          <a:xfrm>
            <a:off x="436684" y="1939585"/>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F83E85BB-9C07-F05E-E44D-0D3DC58FB769}"/>
              </a:ext>
            </a:extLst>
          </p:cNvPr>
          <p:cNvSpPr/>
          <p:nvPr/>
        </p:nvSpPr>
        <p:spPr>
          <a:xfrm>
            <a:off x="433769" y="4662649"/>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4FD233D-3A87-2087-C3FC-189383FA6F11}"/>
              </a:ext>
            </a:extLst>
          </p:cNvPr>
          <p:cNvSpPr/>
          <p:nvPr/>
        </p:nvSpPr>
        <p:spPr>
          <a:xfrm>
            <a:off x="433769" y="3769445"/>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5" name="Rechteck: abgerundete Ecken 14">
            <a:extLst>
              <a:ext uri="{FF2B5EF4-FFF2-40B4-BE49-F238E27FC236}">
                <a16:creationId xmlns:a16="http://schemas.microsoft.com/office/drawing/2014/main" id="{0421135A-2A1F-E03D-6D78-9923CD68F301}"/>
              </a:ext>
            </a:extLst>
          </p:cNvPr>
          <p:cNvSpPr/>
          <p:nvPr/>
        </p:nvSpPr>
        <p:spPr>
          <a:xfrm>
            <a:off x="429064" y="3303121"/>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82C61D98-1B44-E103-94BE-6F254299E2E4}"/>
              </a:ext>
            </a:extLst>
          </p:cNvPr>
          <p:cNvSpPr/>
          <p:nvPr/>
        </p:nvSpPr>
        <p:spPr>
          <a:xfrm>
            <a:off x="429064" y="2878830"/>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7" name="Rechteck: abgerundete Ecken 16">
            <a:extLst>
              <a:ext uri="{FF2B5EF4-FFF2-40B4-BE49-F238E27FC236}">
                <a16:creationId xmlns:a16="http://schemas.microsoft.com/office/drawing/2014/main" id="{A7C6C36D-921B-ADA7-39F6-D3C580E48D14}"/>
              </a:ext>
            </a:extLst>
          </p:cNvPr>
          <p:cNvSpPr/>
          <p:nvPr/>
        </p:nvSpPr>
        <p:spPr>
          <a:xfrm>
            <a:off x="436684" y="2397640"/>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8" name="Rechteck: abgerundete Ecken 17">
            <a:extLst>
              <a:ext uri="{FF2B5EF4-FFF2-40B4-BE49-F238E27FC236}">
                <a16:creationId xmlns:a16="http://schemas.microsoft.com/office/drawing/2014/main" id="{882E66A5-5B28-61FD-28D4-66E520FAF102}"/>
              </a:ext>
            </a:extLst>
          </p:cNvPr>
          <p:cNvSpPr/>
          <p:nvPr/>
        </p:nvSpPr>
        <p:spPr>
          <a:xfrm>
            <a:off x="433769" y="1483370"/>
            <a:ext cx="247650" cy="2285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pic>
        <p:nvPicPr>
          <p:cNvPr id="20" name="Grafik 19" descr="Häkchen mit einfarbiger Füllung">
            <a:extLst>
              <a:ext uri="{FF2B5EF4-FFF2-40B4-BE49-F238E27FC236}">
                <a16:creationId xmlns:a16="http://schemas.microsoft.com/office/drawing/2014/main" id="{E7799441-3F8E-BA74-730F-7233DA1592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814" y="1364580"/>
            <a:ext cx="394833" cy="394833"/>
          </a:xfrm>
          <a:prstGeom prst="rect">
            <a:avLst/>
          </a:prstGeom>
        </p:spPr>
      </p:pic>
      <p:pic>
        <p:nvPicPr>
          <p:cNvPr id="21" name="Grafik 20" descr="Häkchen mit einfarbiger Füllung">
            <a:extLst>
              <a:ext uri="{FF2B5EF4-FFF2-40B4-BE49-F238E27FC236}">
                <a16:creationId xmlns:a16="http://schemas.microsoft.com/office/drawing/2014/main" id="{F013647C-97AB-2AA6-F497-1D3DDBB9EB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616" y="4531717"/>
            <a:ext cx="394833" cy="394833"/>
          </a:xfrm>
          <a:prstGeom prst="rect">
            <a:avLst/>
          </a:prstGeom>
        </p:spPr>
      </p:pic>
      <p:pic>
        <p:nvPicPr>
          <p:cNvPr id="23" name="Grafik 22" descr="Häkchen mit einfarbiger Füllung">
            <a:extLst>
              <a:ext uri="{FF2B5EF4-FFF2-40B4-BE49-F238E27FC236}">
                <a16:creationId xmlns:a16="http://schemas.microsoft.com/office/drawing/2014/main" id="{7EEF1EB9-C072-D307-DFD4-384D986882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511" y="3655373"/>
            <a:ext cx="394833" cy="394833"/>
          </a:xfrm>
          <a:prstGeom prst="rect">
            <a:avLst/>
          </a:prstGeom>
        </p:spPr>
      </p:pic>
      <p:pic>
        <p:nvPicPr>
          <p:cNvPr id="24" name="Grafik 23" descr="Häkchen mit einfarbiger Füllung">
            <a:extLst>
              <a:ext uri="{FF2B5EF4-FFF2-40B4-BE49-F238E27FC236}">
                <a16:creationId xmlns:a16="http://schemas.microsoft.com/office/drawing/2014/main" id="{6F3B1111-14AD-3D92-8382-0C72E9DF84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606" y="3192655"/>
            <a:ext cx="394833" cy="394833"/>
          </a:xfrm>
          <a:prstGeom prst="rect">
            <a:avLst/>
          </a:prstGeom>
        </p:spPr>
      </p:pic>
      <p:pic>
        <p:nvPicPr>
          <p:cNvPr id="25" name="Grafik 24" descr="Häkchen mit einfarbiger Füllung">
            <a:extLst>
              <a:ext uri="{FF2B5EF4-FFF2-40B4-BE49-F238E27FC236}">
                <a16:creationId xmlns:a16="http://schemas.microsoft.com/office/drawing/2014/main" id="{2565AD6A-F27F-F233-A84F-99BCB54C74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512" y="2760877"/>
            <a:ext cx="394833" cy="394833"/>
          </a:xfrm>
          <a:prstGeom prst="rect">
            <a:avLst/>
          </a:prstGeom>
        </p:spPr>
      </p:pic>
      <p:pic>
        <p:nvPicPr>
          <p:cNvPr id="26" name="Grafik 25" descr="Häkchen mit einfarbiger Füllung">
            <a:extLst>
              <a:ext uri="{FF2B5EF4-FFF2-40B4-BE49-F238E27FC236}">
                <a16:creationId xmlns:a16="http://schemas.microsoft.com/office/drawing/2014/main" id="{4FF78CC5-0917-A3A2-9E84-27CC6C35BD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606" y="2292871"/>
            <a:ext cx="394833" cy="394833"/>
          </a:xfrm>
          <a:prstGeom prst="rect">
            <a:avLst/>
          </a:prstGeom>
        </p:spPr>
      </p:pic>
      <p:pic>
        <p:nvPicPr>
          <p:cNvPr id="27" name="Grafik 26" descr="Häkchen mit einfarbiger Füllung">
            <a:extLst>
              <a:ext uri="{FF2B5EF4-FFF2-40B4-BE49-F238E27FC236}">
                <a16:creationId xmlns:a16="http://schemas.microsoft.com/office/drawing/2014/main" id="{9920B7A1-FCA8-E9DA-68BF-2EC4659C57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606" y="1829918"/>
            <a:ext cx="394833" cy="394833"/>
          </a:xfrm>
          <a:prstGeom prst="rect">
            <a:avLst/>
          </a:prstGeom>
        </p:spPr>
      </p:pic>
    </p:spTree>
    <p:extLst>
      <p:ext uri="{BB962C8B-B14F-4D97-AF65-F5344CB8AC3E}">
        <p14:creationId xmlns:p14="http://schemas.microsoft.com/office/powerpoint/2010/main" val="464891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el 1">
            <a:extLst>
              <a:ext uri="{FF2B5EF4-FFF2-40B4-BE49-F238E27FC236}">
                <a16:creationId xmlns:a16="http://schemas.microsoft.com/office/drawing/2014/main" id="{745898FB-935E-AB05-A329-74852BE9021A}"/>
              </a:ext>
            </a:extLst>
          </p:cNvPr>
          <p:cNvSpPr>
            <a:spLocks noGrp="1"/>
          </p:cNvSpPr>
          <p:nvPr>
            <p:ph type="ctrTitle"/>
          </p:nvPr>
        </p:nvSpPr>
        <p:spPr>
          <a:xfrm>
            <a:off x="578883" y="1165006"/>
            <a:ext cx="7680960" cy="3089904"/>
          </a:xfrm>
        </p:spPr>
        <p:txBody>
          <a:bodyPr anchor="b">
            <a:normAutofit/>
          </a:bodyPr>
          <a:lstStyle/>
          <a:p>
            <a:r>
              <a:rPr lang="de-DE" sz="6500" dirty="0"/>
              <a:t>Herausforderungen und deren Lösungswege</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47485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1B494C8-993D-EFD7-A8A8-EE4F5D0CD61F}"/>
              </a:ext>
            </a:extLst>
          </p:cNvPr>
          <p:cNvSpPr>
            <a:spLocks noGrp="1"/>
          </p:cNvSpPr>
          <p:nvPr>
            <p:ph type="title"/>
          </p:nvPr>
        </p:nvSpPr>
        <p:spPr>
          <a:xfrm>
            <a:off x="78816" y="90457"/>
            <a:ext cx="6501810" cy="1097280"/>
          </a:xfrm>
        </p:spPr>
        <p:txBody>
          <a:bodyPr vert="horz" lIns="91440" tIns="45720" rIns="91440" bIns="45720" rtlCol="0" anchor="t">
            <a:normAutofit/>
          </a:bodyPr>
          <a:lstStyle/>
          <a:p>
            <a:pPr>
              <a:lnSpc>
                <a:spcPct val="90000"/>
              </a:lnSpc>
            </a:pPr>
            <a:r>
              <a:rPr lang="en-US" sz="3400" dirty="0" err="1"/>
              <a:t>Herausforderungen</a:t>
            </a:r>
            <a:endParaRPr lang="en-US" sz="3400" dirty="0"/>
          </a:p>
        </p:txBody>
      </p:sp>
      <p:pic>
        <p:nvPicPr>
          <p:cNvPr id="5" name="Inhaltsplatzhalter 4" descr="Junger Mann Techniker oder Ingenieur repariert elektronische Geräte, Hausaufgaben auf dem Tisch.">
            <a:extLst>
              <a:ext uri="{FF2B5EF4-FFF2-40B4-BE49-F238E27FC236}">
                <a16:creationId xmlns:a16="http://schemas.microsoft.com/office/drawing/2014/main" id="{1A8374EF-6E94-4235-BD29-F4FC162FDAC4}"/>
              </a:ext>
            </a:extLst>
          </p:cNvPr>
          <p:cNvPicPr>
            <a:picLocks noGrp="1" noChangeAspect="1"/>
          </p:cNvPicPr>
          <p:nvPr>
            <p:ph sz="half" idx="1"/>
          </p:nvPr>
        </p:nvPicPr>
        <p:blipFill>
          <a:blip r:embed="rId3"/>
          <a:srcRect l="27399" r="17535" b="2"/>
          <a:stretch>
            <a:fillRect/>
          </a:stretch>
        </p:blipFill>
        <p:spPr>
          <a:xfrm>
            <a:off x="0" y="1278193"/>
            <a:ext cx="3329721" cy="4036139"/>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D84897E4-28BB-19B7-680F-0E4A85BB0B9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88240" y="280878"/>
            <a:ext cx="7214649" cy="5844618"/>
          </a:xfrm>
        </p:spPr>
        <p:txBody>
          <a:bodyPr>
            <a:normAutofit/>
          </a:bodyPr>
          <a:lstStyle/>
          <a:p>
            <a:pPr marL="0" indent="0" fontAlgn="base">
              <a:buNone/>
            </a:pPr>
            <a:r>
              <a:rPr lang="de-DE" dirty="0"/>
              <a:t>1. </a:t>
            </a:r>
            <a:r>
              <a:rPr lang="de-DE" b="1" dirty="0"/>
              <a:t>Fehlerquellen finden und nachprüfen:</a:t>
            </a:r>
          </a:p>
          <a:p>
            <a:pPr marL="265176" lvl="1" indent="0" fontAlgn="base">
              <a:buNone/>
            </a:pPr>
            <a:r>
              <a:rPr lang="de-DE" dirty="0" err="1"/>
              <a:t>Logcat</a:t>
            </a:r>
            <a:r>
              <a:rPr lang="de-DE" dirty="0"/>
              <a:t> gefunden um System-Logs anzuwenden und Probleme zu identifizieren/beheben </a:t>
            </a:r>
          </a:p>
          <a:p>
            <a:pPr marL="0" indent="0" fontAlgn="base">
              <a:buNone/>
            </a:pPr>
            <a:r>
              <a:rPr lang="de-DE" dirty="0"/>
              <a:t>2. </a:t>
            </a:r>
            <a:r>
              <a:rPr lang="de-DE" b="1" dirty="0"/>
              <a:t>Komponenten anständig registrieren:</a:t>
            </a:r>
          </a:p>
          <a:p>
            <a:pPr marL="0" indent="0" fontAlgn="base">
              <a:buNone/>
            </a:pPr>
            <a:endParaRPr lang="de-DE" dirty="0"/>
          </a:p>
          <a:p>
            <a:pPr marL="0" indent="0" fontAlgn="base">
              <a:buNone/>
            </a:pPr>
            <a:endParaRPr lang="de-DE" dirty="0"/>
          </a:p>
          <a:p>
            <a:pPr marL="0" indent="0" fontAlgn="base">
              <a:buNone/>
            </a:pPr>
            <a:endParaRPr lang="de-DE" dirty="0"/>
          </a:p>
          <a:p>
            <a:pPr marL="0" indent="0" fontAlgn="base">
              <a:buNone/>
            </a:pPr>
            <a:endParaRPr lang="de-DE" dirty="0"/>
          </a:p>
          <a:p>
            <a:pPr marL="0" indent="0" fontAlgn="base">
              <a:buNone/>
            </a:pPr>
            <a:endParaRPr lang="de-DE" dirty="0"/>
          </a:p>
          <a:p>
            <a:pPr marL="0" indent="0" fontAlgn="base">
              <a:buNone/>
            </a:pPr>
            <a:r>
              <a:rPr lang="de-DE" dirty="0"/>
              <a:t>3. </a:t>
            </a:r>
            <a:r>
              <a:rPr lang="de-DE" b="1" dirty="0"/>
              <a:t>Verwechslung mit der Android (Samsung) NFC-App:</a:t>
            </a:r>
          </a:p>
          <a:p>
            <a:pPr marL="265176" lvl="1" indent="0" fontAlgn="base">
              <a:buNone/>
            </a:pPr>
            <a:r>
              <a:rPr lang="de-DE" dirty="0"/>
              <a:t>herausgefunden, dass die Samsung-App den Scan übernahm anstatt unserer App, und konnten das Problem so identifizieren.</a:t>
            </a:r>
          </a:p>
          <a:p>
            <a:pPr marL="0" indent="0" fontAlgn="base">
              <a:buNone/>
            </a:pPr>
            <a:endParaRPr lang="de-DE" dirty="0"/>
          </a:p>
          <a:p>
            <a:pPr marL="0" indent="0">
              <a:spcBef>
                <a:spcPts val="2500"/>
              </a:spcBef>
              <a:buFont typeface="Arial" panose="020B0604020202020204" pitchFamily="34" charset="0"/>
              <a:buNone/>
            </a:pPr>
            <a:endParaRPr lang="de-DE" sz="1400" b="1" dirty="0"/>
          </a:p>
        </p:txBody>
      </p:sp>
      <p:pic>
        <p:nvPicPr>
          <p:cNvPr id="3" name="Grafik 2">
            <a:extLst>
              <a:ext uri="{FF2B5EF4-FFF2-40B4-BE49-F238E27FC236}">
                <a16:creationId xmlns:a16="http://schemas.microsoft.com/office/drawing/2014/main" id="{93894CB0-4344-E6AC-1401-D1FDCD9BC9FC}"/>
              </a:ext>
            </a:extLst>
          </p:cNvPr>
          <p:cNvPicPr>
            <a:picLocks noChangeAspect="1"/>
          </p:cNvPicPr>
          <p:nvPr/>
        </p:nvPicPr>
        <p:blipFill>
          <a:blip r:embed="rId4"/>
          <a:stretch>
            <a:fillRect/>
          </a:stretch>
        </p:blipFill>
        <p:spPr>
          <a:xfrm>
            <a:off x="4591932" y="2013859"/>
            <a:ext cx="6719734" cy="286964"/>
          </a:xfrm>
          <a:prstGeom prst="rect">
            <a:avLst/>
          </a:prstGeom>
        </p:spPr>
      </p:pic>
      <p:pic>
        <p:nvPicPr>
          <p:cNvPr id="6" name="Grafik 5">
            <a:extLst>
              <a:ext uri="{FF2B5EF4-FFF2-40B4-BE49-F238E27FC236}">
                <a16:creationId xmlns:a16="http://schemas.microsoft.com/office/drawing/2014/main" id="{DC6102EA-3002-E6A7-3681-6A37A26C82F2}"/>
              </a:ext>
            </a:extLst>
          </p:cNvPr>
          <p:cNvPicPr>
            <a:picLocks noChangeAspect="1"/>
          </p:cNvPicPr>
          <p:nvPr/>
        </p:nvPicPr>
        <p:blipFill>
          <a:blip r:embed="rId5"/>
          <a:stretch>
            <a:fillRect/>
          </a:stretch>
        </p:blipFill>
        <p:spPr>
          <a:xfrm>
            <a:off x="4591932" y="2300823"/>
            <a:ext cx="3480352" cy="1993441"/>
          </a:xfrm>
          <a:prstGeom prst="rect">
            <a:avLst/>
          </a:prstGeom>
        </p:spPr>
      </p:pic>
    </p:spTree>
    <p:extLst>
      <p:ext uri="{BB962C8B-B14F-4D97-AF65-F5344CB8AC3E}">
        <p14:creationId xmlns:p14="http://schemas.microsoft.com/office/powerpoint/2010/main" val="1460735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xEl>
                                              <p:pRg st="8" end="8"/>
                                            </p:txEl>
                                          </p:spTgt>
                                        </p:tgtEl>
                                        <p:attrNameLst>
                                          <p:attrName>style.visibility</p:attrName>
                                        </p:attrNameLst>
                                      </p:cBhvr>
                                      <p:to>
                                        <p:strVal val="visible"/>
                                      </p:to>
                                    </p:set>
                                    <p:animEffect transition="in" filter="fade">
                                      <p:cBhvr>
                                        <p:cTn id="24" dur="1000"/>
                                        <p:tgtEl>
                                          <p:spTgt spid="4">
                                            <p:txEl>
                                              <p:pRg st="8" end="8"/>
                                            </p:txEl>
                                          </p:spTgt>
                                        </p:tgtEl>
                                      </p:cBhvr>
                                    </p:animEffect>
                                    <p:anim calcmode="lin" valueType="num">
                                      <p:cBhvr>
                                        <p:cTn id="25"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8" end="8"/>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animEffect transition="in" filter="fade">
                                      <p:cBhvr>
                                        <p:cTn id="29" dur="1000"/>
                                        <p:tgtEl>
                                          <p:spTgt spid="4">
                                            <p:txEl>
                                              <p:pRg st="9" end="9"/>
                                            </p:txEl>
                                          </p:spTgt>
                                        </p:tgtEl>
                                      </p:cBhvr>
                                    </p:animEffect>
                                    <p:anim calcmode="lin" valueType="num">
                                      <p:cBhvr>
                                        <p:cTn id="30"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el 1">
            <a:extLst>
              <a:ext uri="{FF2B5EF4-FFF2-40B4-BE49-F238E27FC236}">
                <a16:creationId xmlns:a16="http://schemas.microsoft.com/office/drawing/2014/main" id="{26743920-1FD4-9D61-3416-BC05C92DA5E5}"/>
              </a:ext>
            </a:extLst>
          </p:cNvPr>
          <p:cNvSpPr>
            <a:spLocks noGrp="1"/>
          </p:cNvSpPr>
          <p:nvPr>
            <p:ph type="ctrTitle"/>
          </p:nvPr>
        </p:nvSpPr>
        <p:spPr>
          <a:xfrm>
            <a:off x="559219" y="1115845"/>
            <a:ext cx="7680960" cy="2689240"/>
          </a:xfrm>
        </p:spPr>
        <p:txBody>
          <a:bodyPr anchor="b">
            <a:normAutofit fontScale="90000"/>
          </a:bodyPr>
          <a:lstStyle/>
          <a:p>
            <a:r>
              <a:rPr lang="de-DE" sz="6500" dirty="0"/>
              <a:t>Verwendete native Schnittstellen (Plugins)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2372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el 1">
            <a:extLst>
              <a:ext uri="{FF2B5EF4-FFF2-40B4-BE49-F238E27FC236}">
                <a16:creationId xmlns:a16="http://schemas.microsoft.com/office/drawing/2014/main" id="{A0B47FF6-3CC4-9412-1AED-9E46AA78893E}"/>
              </a:ext>
            </a:extLst>
          </p:cNvPr>
          <p:cNvSpPr>
            <a:spLocks noGrp="1"/>
          </p:cNvSpPr>
          <p:nvPr>
            <p:ph type="title"/>
          </p:nvPr>
        </p:nvSpPr>
        <p:spPr>
          <a:xfrm>
            <a:off x="530056" y="275303"/>
            <a:ext cx="5202150" cy="550607"/>
          </a:xfrm>
        </p:spPr>
        <p:txBody>
          <a:bodyPr>
            <a:normAutofit fontScale="90000"/>
          </a:bodyPr>
          <a:lstStyle/>
          <a:p>
            <a:r>
              <a:rPr lang="de-DE" sz="3600" dirty="0"/>
              <a:t>Plugins und Funktionsweise</a:t>
            </a:r>
          </a:p>
        </p:txBody>
      </p:sp>
      <p:sp>
        <p:nvSpPr>
          <p:cNvPr id="5" name="Inhaltsplatzhalter 4">
            <a:extLst>
              <a:ext uri="{FF2B5EF4-FFF2-40B4-BE49-F238E27FC236}">
                <a16:creationId xmlns:a16="http://schemas.microsoft.com/office/drawing/2014/main" id="{DD8F11AD-1E0C-20EC-2F81-9D21598E6160}"/>
              </a:ext>
            </a:extLst>
          </p:cNvPr>
          <p:cNvSpPr>
            <a:spLocks noGrp="1"/>
          </p:cNvSpPr>
          <p:nvPr>
            <p:ph idx="1"/>
          </p:nvPr>
        </p:nvSpPr>
        <p:spPr>
          <a:xfrm>
            <a:off x="530056" y="2116146"/>
            <a:ext cx="10890928" cy="4215828"/>
          </a:xfrm>
        </p:spPr>
        <p:txBody>
          <a:bodyPr>
            <a:normAutofit fontScale="92500" lnSpcReduction="10000"/>
          </a:bodyPr>
          <a:lstStyle/>
          <a:p>
            <a:pPr fontAlgn="base"/>
            <a:r>
              <a:rPr lang="de-DE" sz="2400" dirty="0"/>
              <a:t>Plugin: @</a:t>
            </a:r>
            <a:r>
              <a:rPr lang="de-DE" sz="2400" dirty="0" err="1"/>
              <a:t>capawesome</a:t>
            </a:r>
            <a:r>
              <a:rPr lang="de-DE" sz="2400" dirty="0"/>
              <a:t>-team/</a:t>
            </a:r>
            <a:r>
              <a:rPr lang="de-DE" sz="2400" dirty="0" err="1"/>
              <a:t>capacitor-nfc</a:t>
            </a:r>
            <a:endParaRPr lang="de-DE" sz="2400" dirty="0"/>
          </a:p>
          <a:p>
            <a:pPr fontAlgn="base"/>
            <a:r>
              <a:rPr lang="de-DE" sz="2400" dirty="0"/>
              <a:t>Funktion: Dies ist das Main-Plugin für NFC-Interaktionen. Es ermöglicht das Lesen und Schreiben von NFC-Tags.</a:t>
            </a:r>
          </a:p>
          <a:p>
            <a:pPr fontAlgn="base"/>
            <a:r>
              <a:rPr lang="de-DE" sz="2400" dirty="0"/>
              <a:t>Verwendung im Code: Lesen und beschreiben eines NFC-Tags</a:t>
            </a:r>
          </a:p>
          <a:p>
            <a:pPr fontAlgn="base"/>
            <a:r>
              <a:rPr lang="de-DE" dirty="0"/>
              <a:t> </a:t>
            </a:r>
            <a:r>
              <a:rPr lang="de-DE" dirty="0" err="1"/>
              <a:t>startScanSession</a:t>
            </a:r>
            <a:r>
              <a:rPr lang="de-DE" dirty="0"/>
              <a:t>(): Startet das Scannen von NFC-Tags. </a:t>
            </a:r>
          </a:p>
          <a:p>
            <a:pPr fontAlgn="base"/>
            <a:r>
              <a:rPr lang="de-DE" dirty="0"/>
              <a:t> </a:t>
            </a:r>
            <a:r>
              <a:rPr lang="de-DE" dirty="0" err="1"/>
              <a:t>stopScanSession</a:t>
            </a:r>
            <a:r>
              <a:rPr lang="de-DE" dirty="0"/>
              <a:t>(): Stoppt das Scannen von NFC-Tags. </a:t>
            </a:r>
          </a:p>
          <a:p>
            <a:pPr fontAlgn="base"/>
            <a:r>
              <a:rPr lang="de-DE" dirty="0"/>
              <a:t> </a:t>
            </a:r>
            <a:r>
              <a:rPr lang="de-DE" dirty="0" err="1"/>
              <a:t>addListener</a:t>
            </a:r>
            <a:r>
              <a:rPr lang="de-DE" dirty="0"/>
              <a:t>: Hört auf das Ereignis, wenn ein Tag gescannt wurde.</a:t>
            </a:r>
          </a:p>
          <a:p>
            <a:pPr fontAlgn="base"/>
            <a:r>
              <a:rPr lang="de-DE" dirty="0"/>
              <a:t> </a:t>
            </a:r>
            <a:r>
              <a:rPr lang="de-DE" dirty="0" err="1"/>
              <a:t>Nfc.write</a:t>
            </a:r>
            <a:r>
              <a:rPr lang="de-DE" dirty="0"/>
              <a:t>: Schreibt einen </a:t>
            </a:r>
            <a:r>
              <a:rPr lang="de-DE" dirty="0" err="1"/>
              <a:t>NDEF</a:t>
            </a:r>
            <a:r>
              <a:rPr lang="de-DE" dirty="0"/>
              <a:t>-Datensatz auf das Tag.</a:t>
            </a:r>
          </a:p>
          <a:p>
            <a:pPr fontAlgn="base"/>
            <a:r>
              <a:rPr lang="de-DE" dirty="0"/>
              <a:t> </a:t>
            </a:r>
            <a:r>
              <a:rPr lang="de-DE" dirty="0" err="1"/>
              <a:t>Nfc.Utils</a:t>
            </a:r>
            <a:r>
              <a:rPr lang="de-DE" dirty="0"/>
              <a:t> als Hilfsklasse.</a:t>
            </a:r>
          </a:p>
          <a:p>
            <a:pPr fontAlgn="base"/>
            <a:endParaRPr lang="de-DE" dirty="0"/>
          </a:p>
          <a:p>
            <a:pPr fontAlgn="base"/>
            <a:endParaRPr lang="de-DE" dirty="0"/>
          </a:p>
          <a:p>
            <a:pPr fontAlgn="base"/>
            <a:endParaRPr lang="de-DE" sz="2400" dirty="0"/>
          </a:p>
          <a:p>
            <a:pPr fontAlgn="base"/>
            <a:endParaRPr lang="de-DE" dirty="0"/>
          </a:p>
          <a:p>
            <a:endParaRPr lang="de-DE" dirty="0"/>
          </a:p>
        </p:txBody>
      </p:sp>
      <p:sp>
        <p:nvSpPr>
          <p:cNvPr id="7" name="Textfeld 6">
            <a:extLst>
              <a:ext uri="{FF2B5EF4-FFF2-40B4-BE49-F238E27FC236}">
                <a16:creationId xmlns:a16="http://schemas.microsoft.com/office/drawing/2014/main" id="{D1B40AE0-422C-FF0F-C421-781A51AC53B0}"/>
              </a:ext>
            </a:extLst>
          </p:cNvPr>
          <p:cNvSpPr txBox="1"/>
          <p:nvPr/>
        </p:nvSpPr>
        <p:spPr>
          <a:xfrm>
            <a:off x="530056" y="1175693"/>
            <a:ext cx="6096000" cy="461665"/>
          </a:xfrm>
          <a:prstGeom prst="rect">
            <a:avLst/>
          </a:prstGeom>
          <a:noFill/>
        </p:spPr>
        <p:txBody>
          <a:bodyPr wrap="square">
            <a:spAutoFit/>
          </a:bodyPr>
          <a:lstStyle/>
          <a:p>
            <a:r>
              <a:rPr lang="de-DE" sz="2000" b="1" dirty="0"/>
              <a:t>NFC</a:t>
            </a:r>
            <a:r>
              <a:rPr lang="de-DE" sz="2000" dirty="0"/>
              <a:t> – </a:t>
            </a:r>
            <a:r>
              <a:rPr lang="de-DE" sz="2400" dirty="0">
                <a:solidFill>
                  <a:schemeClr val="tx1">
                    <a:lumMod val="50000"/>
                    <a:lumOff val="50000"/>
                  </a:schemeClr>
                </a:solidFill>
              </a:rPr>
              <a:t>Clipboard</a:t>
            </a:r>
            <a:r>
              <a:rPr lang="de-DE" sz="2000" dirty="0"/>
              <a:t> - </a:t>
            </a:r>
            <a:r>
              <a:rPr lang="de-DE" sz="2000" dirty="0">
                <a:solidFill>
                  <a:schemeClr val="tx1">
                    <a:lumMod val="50000"/>
                    <a:lumOff val="50000"/>
                  </a:schemeClr>
                </a:solidFill>
              </a:rPr>
              <a:t>Share</a:t>
            </a:r>
          </a:p>
        </p:txBody>
      </p:sp>
      <p:pic>
        <p:nvPicPr>
          <p:cNvPr id="10" name="Grafik 9">
            <a:extLst>
              <a:ext uri="{FF2B5EF4-FFF2-40B4-BE49-F238E27FC236}">
                <a16:creationId xmlns:a16="http://schemas.microsoft.com/office/drawing/2014/main" id="{ABC9E252-CCB2-1FD1-DDAF-8C08E9FDA84B}"/>
              </a:ext>
            </a:extLst>
          </p:cNvPr>
          <p:cNvPicPr>
            <a:picLocks noChangeAspect="1"/>
          </p:cNvPicPr>
          <p:nvPr/>
        </p:nvPicPr>
        <p:blipFill>
          <a:blip r:embed="rId3"/>
          <a:stretch>
            <a:fillRect/>
          </a:stretch>
        </p:blipFill>
        <p:spPr>
          <a:xfrm>
            <a:off x="9032677" y="275303"/>
            <a:ext cx="2629267" cy="1705213"/>
          </a:xfrm>
          <a:prstGeom prst="rect">
            <a:avLst/>
          </a:prstGeom>
          <a:effectLst>
            <a:outerShdw blurRad="12700" sx="101000" sy="101000" algn="ctr" rotWithShape="0">
              <a:prstClr val="black">
                <a:alpha val="40000"/>
              </a:prstClr>
            </a:outerShdw>
          </a:effectLst>
        </p:spPr>
      </p:pic>
    </p:spTree>
    <p:extLst>
      <p:ext uri="{BB962C8B-B14F-4D97-AF65-F5344CB8AC3E}">
        <p14:creationId xmlns:p14="http://schemas.microsoft.com/office/powerpoint/2010/main" val="233312594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40A8F9-AD93-3887-83C9-B865FE864C2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DC94A1-9AD6-490B-42A9-8EDB197BD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el 1">
            <a:extLst>
              <a:ext uri="{FF2B5EF4-FFF2-40B4-BE49-F238E27FC236}">
                <a16:creationId xmlns:a16="http://schemas.microsoft.com/office/drawing/2014/main" id="{5F3ADB95-CB93-5A72-CF68-72ACB0E7F929}"/>
              </a:ext>
            </a:extLst>
          </p:cNvPr>
          <p:cNvSpPr>
            <a:spLocks noGrp="1"/>
          </p:cNvSpPr>
          <p:nvPr>
            <p:ph type="title"/>
          </p:nvPr>
        </p:nvSpPr>
        <p:spPr>
          <a:xfrm>
            <a:off x="530056" y="275303"/>
            <a:ext cx="5202150" cy="550607"/>
          </a:xfrm>
        </p:spPr>
        <p:txBody>
          <a:bodyPr>
            <a:normAutofit fontScale="90000"/>
          </a:bodyPr>
          <a:lstStyle/>
          <a:p>
            <a:r>
              <a:rPr lang="de-DE" sz="3600" dirty="0"/>
              <a:t>Plugins und Funktionsweise</a:t>
            </a:r>
          </a:p>
        </p:txBody>
      </p:sp>
      <p:sp>
        <p:nvSpPr>
          <p:cNvPr id="5" name="Inhaltsplatzhalter 4">
            <a:extLst>
              <a:ext uri="{FF2B5EF4-FFF2-40B4-BE49-F238E27FC236}">
                <a16:creationId xmlns:a16="http://schemas.microsoft.com/office/drawing/2014/main" id="{E5F965C5-B8A3-E36C-1A36-43A81C1E13F2}"/>
              </a:ext>
            </a:extLst>
          </p:cNvPr>
          <p:cNvSpPr>
            <a:spLocks noGrp="1"/>
          </p:cNvSpPr>
          <p:nvPr>
            <p:ph idx="1"/>
          </p:nvPr>
        </p:nvSpPr>
        <p:spPr>
          <a:xfrm>
            <a:off x="530056" y="2116147"/>
            <a:ext cx="10890928" cy="3566160"/>
          </a:xfrm>
        </p:spPr>
        <p:txBody>
          <a:bodyPr/>
          <a:lstStyle/>
          <a:p>
            <a:r>
              <a:rPr lang="de-DE" dirty="0"/>
              <a:t>Plugin: @</a:t>
            </a:r>
            <a:r>
              <a:rPr lang="de-DE" dirty="0" err="1"/>
              <a:t>capacitor</a:t>
            </a:r>
            <a:r>
              <a:rPr lang="de-DE" dirty="0"/>
              <a:t>/</a:t>
            </a:r>
            <a:r>
              <a:rPr lang="de-DE" dirty="0" err="1"/>
              <a:t>clipboard</a:t>
            </a:r>
            <a:endParaRPr lang="de-DE" dirty="0"/>
          </a:p>
          <a:p>
            <a:pPr fontAlgn="base"/>
            <a:r>
              <a:rPr lang="de-DE" dirty="0"/>
              <a:t>Funktion: Dieses Plugin ermöglicht das Kopieren von Text in die Zwischenablage.</a:t>
            </a:r>
          </a:p>
          <a:p>
            <a:pPr fontAlgn="base"/>
            <a:r>
              <a:rPr lang="de-DE" dirty="0"/>
              <a:t>Verwendung im Code: In der Detail-Seite wird die Payload des NFC-Tags in die Zwischenablage kopiert:</a:t>
            </a:r>
          </a:p>
          <a:p>
            <a:endParaRPr lang="de-DE" dirty="0"/>
          </a:p>
        </p:txBody>
      </p:sp>
      <p:sp>
        <p:nvSpPr>
          <p:cNvPr id="7" name="Textfeld 6">
            <a:extLst>
              <a:ext uri="{FF2B5EF4-FFF2-40B4-BE49-F238E27FC236}">
                <a16:creationId xmlns:a16="http://schemas.microsoft.com/office/drawing/2014/main" id="{AFA30D62-8F3C-9FD8-1D1D-8602B630DB8F}"/>
              </a:ext>
            </a:extLst>
          </p:cNvPr>
          <p:cNvSpPr txBox="1"/>
          <p:nvPr/>
        </p:nvSpPr>
        <p:spPr>
          <a:xfrm>
            <a:off x="530056" y="1175693"/>
            <a:ext cx="6096000" cy="461665"/>
          </a:xfrm>
          <a:prstGeom prst="rect">
            <a:avLst/>
          </a:prstGeom>
          <a:noFill/>
        </p:spPr>
        <p:txBody>
          <a:bodyPr wrap="square">
            <a:spAutoFit/>
          </a:bodyPr>
          <a:lstStyle/>
          <a:p>
            <a:r>
              <a:rPr lang="de-DE" sz="2000" b="1" dirty="0">
                <a:solidFill>
                  <a:schemeClr val="tx1">
                    <a:lumMod val="50000"/>
                    <a:lumOff val="50000"/>
                  </a:schemeClr>
                </a:solidFill>
              </a:rPr>
              <a:t>NFC</a:t>
            </a:r>
            <a:r>
              <a:rPr lang="de-DE" sz="2000" dirty="0"/>
              <a:t> – </a:t>
            </a:r>
            <a:r>
              <a:rPr lang="de-DE" sz="2400" b="1" dirty="0"/>
              <a:t>Clipboard</a:t>
            </a:r>
            <a:r>
              <a:rPr lang="de-DE" sz="2000" dirty="0"/>
              <a:t> - </a:t>
            </a:r>
            <a:r>
              <a:rPr lang="de-DE" sz="2000" dirty="0">
                <a:solidFill>
                  <a:schemeClr val="tx1">
                    <a:lumMod val="50000"/>
                    <a:lumOff val="50000"/>
                  </a:schemeClr>
                </a:solidFill>
              </a:rPr>
              <a:t>Share</a:t>
            </a:r>
          </a:p>
        </p:txBody>
      </p:sp>
      <p:pic>
        <p:nvPicPr>
          <p:cNvPr id="3" name="Grafik 2">
            <a:extLst>
              <a:ext uri="{FF2B5EF4-FFF2-40B4-BE49-F238E27FC236}">
                <a16:creationId xmlns:a16="http://schemas.microsoft.com/office/drawing/2014/main" id="{A84AF6A6-E74E-73A5-1885-031783F388AF}"/>
              </a:ext>
            </a:extLst>
          </p:cNvPr>
          <p:cNvPicPr>
            <a:picLocks noChangeAspect="1"/>
          </p:cNvPicPr>
          <p:nvPr/>
        </p:nvPicPr>
        <p:blipFill>
          <a:blip r:embed="rId3"/>
          <a:stretch>
            <a:fillRect/>
          </a:stretch>
        </p:blipFill>
        <p:spPr>
          <a:xfrm>
            <a:off x="771016" y="3975612"/>
            <a:ext cx="4509320" cy="1127330"/>
          </a:xfrm>
          <a:prstGeom prst="rect">
            <a:avLst/>
          </a:prstGeom>
        </p:spPr>
      </p:pic>
    </p:spTree>
    <p:extLst>
      <p:ext uri="{BB962C8B-B14F-4D97-AF65-F5344CB8AC3E}">
        <p14:creationId xmlns:p14="http://schemas.microsoft.com/office/powerpoint/2010/main" val="38266971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EA0DAD-738F-BF89-A6CF-3985AB6BE6B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35E6E4-9F8A-C14C-4385-A68D1BF02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el 1">
            <a:extLst>
              <a:ext uri="{FF2B5EF4-FFF2-40B4-BE49-F238E27FC236}">
                <a16:creationId xmlns:a16="http://schemas.microsoft.com/office/drawing/2014/main" id="{17118DAB-D170-7CB3-C76A-CE356D54E8E3}"/>
              </a:ext>
            </a:extLst>
          </p:cNvPr>
          <p:cNvSpPr>
            <a:spLocks noGrp="1"/>
          </p:cNvSpPr>
          <p:nvPr>
            <p:ph type="title"/>
          </p:nvPr>
        </p:nvSpPr>
        <p:spPr>
          <a:xfrm>
            <a:off x="530056" y="275303"/>
            <a:ext cx="5202150" cy="550607"/>
          </a:xfrm>
        </p:spPr>
        <p:txBody>
          <a:bodyPr>
            <a:normAutofit fontScale="90000"/>
          </a:bodyPr>
          <a:lstStyle/>
          <a:p>
            <a:r>
              <a:rPr lang="de-DE" sz="3600" dirty="0"/>
              <a:t>Plugins und Funktionsweise</a:t>
            </a:r>
          </a:p>
        </p:txBody>
      </p:sp>
      <p:sp>
        <p:nvSpPr>
          <p:cNvPr id="5" name="Inhaltsplatzhalter 4">
            <a:extLst>
              <a:ext uri="{FF2B5EF4-FFF2-40B4-BE49-F238E27FC236}">
                <a16:creationId xmlns:a16="http://schemas.microsoft.com/office/drawing/2014/main" id="{E6A3C390-CEB6-A7D2-638C-5D4E36BD1909}"/>
              </a:ext>
            </a:extLst>
          </p:cNvPr>
          <p:cNvSpPr>
            <a:spLocks noGrp="1"/>
          </p:cNvSpPr>
          <p:nvPr>
            <p:ph idx="1"/>
          </p:nvPr>
        </p:nvSpPr>
        <p:spPr>
          <a:xfrm>
            <a:off x="530056" y="2116147"/>
            <a:ext cx="10890928" cy="3566160"/>
          </a:xfrm>
        </p:spPr>
        <p:txBody>
          <a:bodyPr/>
          <a:lstStyle/>
          <a:p>
            <a:pPr fontAlgn="base"/>
            <a:r>
              <a:rPr lang="de-DE" dirty="0"/>
              <a:t>Plugin: @</a:t>
            </a:r>
            <a:r>
              <a:rPr lang="de-DE" dirty="0" err="1"/>
              <a:t>capacitor</a:t>
            </a:r>
            <a:r>
              <a:rPr lang="de-DE" dirty="0"/>
              <a:t>/</a:t>
            </a:r>
            <a:r>
              <a:rPr lang="de-DE" dirty="0" err="1"/>
              <a:t>share</a:t>
            </a:r>
            <a:endParaRPr lang="de-DE" dirty="0"/>
          </a:p>
          <a:p>
            <a:pPr fontAlgn="base"/>
            <a:r>
              <a:rPr lang="de-DE" dirty="0"/>
              <a:t>Funktion: Ermöglicht das Teilen von Inhalten (z.B. Text, URLs) über die nativen Sharing-Funktionen des Geräts.</a:t>
            </a:r>
          </a:p>
          <a:p>
            <a:pPr fontAlgn="base"/>
            <a:r>
              <a:rPr lang="de-DE" dirty="0"/>
              <a:t>Verwendung im Code:</a:t>
            </a:r>
          </a:p>
          <a:p>
            <a:endParaRPr lang="de-DE" dirty="0"/>
          </a:p>
        </p:txBody>
      </p:sp>
      <p:sp>
        <p:nvSpPr>
          <p:cNvPr id="7" name="Textfeld 6">
            <a:extLst>
              <a:ext uri="{FF2B5EF4-FFF2-40B4-BE49-F238E27FC236}">
                <a16:creationId xmlns:a16="http://schemas.microsoft.com/office/drawing/2014/main" id="{EAE168DF-EFC3-36FB-4F40-82BC1CDF0165}"/>
              </a:ext>
            </a:extLst>
          </p:cNvPr>
          <p:cNvSpPr txBox="1"/>
          <p:nvPr/>
        </p:nvSpPr>
        <p:spPr>
          <a:xfrm>
            <a:off x="530056" y="1175693"/>
            <a:ext cx="6096000" cy="461665"/>
          </a:xfrm>
          <a:prstGeom prst="rect">
            <a:avLst/>
          </a:prstGeom>
          <a:noFill/>
        </p:spPr>
        <p:txBody>
          <a:bodyPr wrap="square">
            <a:spAutoFit/>
          </a:bodyPr>
          <a:lstStyle/>
          <a:p>
            <a:r>
              <a:rPr lang="de-DE" sz="2000" dirty="0">
                <a:solidFill>
                  <a:schemeClr val="tx1">
                    <a:lumMod val="50000"/>
                    <a:lumOff val="50000"/>
                  </a:schemeClr>
                </a:solidFill>
              </a:rPr>
              <a:t>NFC</a:t>
            </a:r>
            <a:r>
              <a:rPr lang="de-DE" sz="2000" dirty="0"/>
              <a:t> – </a:t>
            </a:r>
            <a:r>
              <a:rPr lang="de-DE" sz="2400" dirty="0">
                <a:solidFill>
                  <a:schemeClr val="tx1">
                    <a:lumMod val="50000"/>
                    <a:lumOff val="50000"/>
                  </a:schemeClr>
                </a:solidFill>
              </a:rPr>
              <a:t>Clipboard</a:t>
            </a:r>
            <a:r>
              <a:rPr lang="de-DE" sz="2000" dirty="0"/>
              <a:t> - </a:t>
            </a:r>
            <a:r>
              <a:rPr lang="de-DE" sz="2000" b="1" dirty="0"/>
              <a:t>Share</a:t>
            </a:r>
          </a:p>
        </p:txBody>
      </p:sp>
      <p:pic>
        <p:nvPicPr>
          <p:cNvPr id="4" name="Grafik 3">
            <a:extLst>
              <a:ext uri="{FF2B5EF4-FFF2-40B4-BE49-F238E27FC236}">
                <a16:creationId xmlns:a16="http://schemas.microsoft.com/office/drawing/2014/main" id="{89FE5FF6-3E7F-6B39-1DDF-C6354D7EEFAF}"/>
              </a:ext>
            </a:extLst>
          </p:cNvPr>
          <p:cNvPicPr>
            <a:picLocks noChangeAspect="1"/>
          </p:cNvPicPr>
          <p:nvPr/>
        </p:nvPicPr>
        <p:blipFill>
          <a:blip r:embed="rId3"/>
          <a:stretch>
            <a:fillRect/>
          </a:stretch>
        </p:blipFill>
        <p:spPr>
          <a:xfrm>
            <a:off x="900609" y="4020779"/>
            <a:ext cx="3007924" cy="1514782"/>
          </a:xfrm>
          <a:prstGeom prst="rect">
            <a:avLst/>
          </a:prstGeom>
        </p:spPr>
      </p:pic>
    </p:spTree>
    <p:extLst>
      <p:ext uri="{BB962C8B-B14F-4D97-AF65-F5344CB8AC3E}">
        <p14:creationId xmlns:p14="http://schemas.microsoft.com/office/powerpoint/2010/main" val="112361322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AF0541-49DB-287E-5F01-FAFAE30972F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CD1C6B-78B6-86AD-C624-913B343AA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8C72960-677A-8883-1003-BC8D77308700}"/>
              </a:ext>
            </a:extLst>
          </p:cNvPr>
          <p:cNvSpPr>
            <a:spLocks noGrp="1"/>
          </p:cNvSpPr>
          <p:nvPr>
            <p:ph type="ctrTitle"/>
          </p:nvPr>
        </p:nvSpPr>
        <p:spPr>
          <a:xfrm>
            <a:off x="7108723" y="1032764"/>
            <a:ext cx="4737477" cy="3224045"/>
          </a:xfrm>
        </p:spPr>
        <p:txBody>
          <a:bodyPr anchor="b">
            <a:normAutofit/>
          </a:bodyPr>
          <a:lstStyle/>
          <a:p>
            <a:pPr algn="ctr">
              <a:lnSpc>
                <a:spcPct val="90000"/>
              </a:lnSpc>
            </a:pPr>
            <a:r>
              <a:rPr lang="de-DE" sz="4800" dirty="0"/>
              <a:t>Vielen Dank für Ihre Aufmerksamkeit!</a:t>
            </a:r>
          </a:p>
        </p:txBody>
      </p:sp>
      <p:pic>
        <p:nvPicPr>
          <p:cNvPr id="4" name="Grafik 3" descr="4K-Auflösung">
            <a:extLst>
              <a:ext uri="{FF2B5EF4-FFF2-40B4-BE49-F238E27FC236}">
                <a16:creationId xmlns:a16="http://schemas.microsoft.com/office/drawing/2014/main" id="{F81A9904-772B-7881-4928-5C460CBF7282}"/>
              </a:ext>
            </a:extLst>
          </p:cNvPr>
          <p:cNvPicPr>
            <a:picLocks noChangeAspect="1"/>
          </p:cNvPicPr>
          <p:nvPr/>
        </p:nvPicPr>
        <p:blipFill>
          <a:blip r:embed="rId3"/>
          <a:srcRect l="22146" r="21004"/>
          <a:stretch>
            <a:fillRect/>
          </a:stretch>
        </p:blipFill>
        <p:spPr>
          <a:xfrm>
            <a:off x="20" y="10"/>
            <a:ext cx="6931132" cy="6857990"/>
          </a:xfrm>
          <a:prstGeom prst="rect">
            <a:avLst/>
          </a:prstGeom>
        </p:spPr>
      </p:pic>
      <p:cxnSp>
        <p:nvCxnSpPr>
          <p:cNvPr id="11" name="Straight Connector 10">
            <a:extLst>
              <a:ext uri="{FF2B5EF4-FFF2-40B4-BE49-F238E27FC236}">
                <a16:creationId xmlns:a16="http://schemas.microsoft.com/office/drawing/2014/main" id="{D0B29357-26B1-4DDE-4DF0-68072A08D3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4805490"/>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904</Words>
  <Application>Microsoft Office PowerPoint</Application>
  <PresentationFormat>Breitbild</PresentationFormat>
  <Paragraphs>77</Paragraphs>
  <Slides>12</Slides>
  <Notes>12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Aptos</vt:lpstr>
      <vt:lpstr>Arial</vt:lpstr>
      <vt:lpstr>Bierstadt</vt:lpstr>
      <vt:lpstr>Grandview Display</vt:lpstr>
      <vt:lpstr>DashVTI</vt:lpstr>
      <vt:lpstr>Vorstellung unserer App: NFC-Scanner</vt:lpstr>
      <vt:lpstr>Agenda</vt:lpstr>
      <vt:lpstr>Beschreibung der Aufgabenstellung</vt:lpstr>
      <vt:lpstr>Anforderungen der App</vt:lpstr>
      <vt:lpstr>Live-Demo der App</vt:lpstr>
      <vt:lpstr>Herausforderungen und deren Lösungswege</vt:lpstr>
      <vt:lpstr>Herausforderungen</vt:lpstr>
      <vt:lpstr>Verwendete native Schnittstellen (Plugins)</vt:lpstr>
      <vt:lpstr>Plugins und Funktionsweise</vt:lpstr>
      <vt:lpstr>Plugins und Funktionsweise</vt:lpstr>
      <vt:lpstr>Plugins und Funktionsweise</vt:lpstr>
      <vt:lpstr>Vielen Dank für Ihre Aufmerksamkeit!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Vorstellung unserer App: NFC-Scanner</dc:title>
  <dc:creator>Nico Kaltenbach</dc:creator>
  <cp:lastModifiedBy>Nico Kaltenbach</cp:lastModifiedBy>
  <cp:revision>9</cp:revision>
  <dcterms:created xsi:type="dcterms:W3CDTF">2025-08-12T11:46:25Z</dcterms:created>
  <dcterms:modified xsi:type="dcterms:W3CDTF">2025-08-18T10:24:07Z</dcterms:modified>
</cp:coreProperties>
</file>